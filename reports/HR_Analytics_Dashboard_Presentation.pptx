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rimo" panose="020B0604020202020204" charset="0"/>
      <p:regular r:id="rId12"/>
    </p:embeddedFont>
    <p:embeddedFont>
      <p:font typeface="Roboto" panose="02000000000000000000" pitchFamily="2" charset="0"/>
      <p:regular r:id="rId13"/>
    </p:embeddedFont>
    <p:embeddedFont>
      <p:font typeface="Roboto Bold" panose="020B0604020202020204" charset="0"/>
      <p:regular r:id="rId14"/>
    </p:embeddedFont>
    <p:embeddedFont>
      <p:font typeface="Roboto Italics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03.04.2026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92238" y="3338665"/>
            <a:ext cx="3151289" cy="510178"/>
            <a:chOff x="0" y="0"/>
            <a:chExt cx="4201719" cy="6802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01668" cy="680212"/>
            </a:xfrm>
            <a:custGeom>
              <a:avLst/>
              <a:gdLst/>
              <a:ahLst/>
              <a:cxnLst/>
              <a:rect l="l" t="t" r="r" b="b"/>
              <a:pathLst>
                <a:path w="4201668" h="680212">
                  <a:moveTo>
                    <a:pt x="0" y="127000"/>
                  </a:moveTo>
                  <a:cubicBezTo>
                    <a:pt x="0" y="56896"/>
                    <a:pt x="56896" y="0"/>
                    <a:pt x="127000" y="0"/>
                  </a:cubicBezTo>
                  <a:lnTo>
                    <a:pt x="4074668" y="0"/>
                  </a:lnTo>
                  <a:cubicBezTo>
                    <a:pt x="4144772" y="0"/>
                    <a:pt x="4201668" y="56896"/>
                    <a:pt x="4201668" y="127000"/>
                  </a:cubicBezTo>
                  <a:lnTo>
                    <a:pt x="4201668" y="553212"/>
                  </a:lnTo>
                  <a:cubicBezTo>
                    <a:pt x="4201668" y="623316"/>
                    <a:pt x="4144772" y="680212"/>
                    <a:pt x="4074668" y="680212"/>
                  </a:cubicBezTo>
                  <a:lnTo>
                    <a:pt x="127000" y="680212"/>
                  </a:lnTo>
                  <a:cubicBezTo>
                    <a:pt x="56896" y="680212"/>
                    <a:pt x="0" y="623316"/>
                    <a:pt x="0" y="553212"/>
                  </a:cubicBezTo>
                  <a:close/>
                </a:path>
              </a:pathLst>
            </a:custGeom>
            <a:solidFill>
              <a:srgbClr val="D9EDF2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62345" y="3366497"/>
            <a:ext cx="3577124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DATA ANALYTICS PROJECT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3905098"/>
            <a:ext cx="7842047" cy="94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HR Analytics Dashboard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5197231"/>
            <a:ext cx="16303523" cy="50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Employee Attrition &amp; Workforce Insights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92238" y="6159294"/>
            <a:ext cx="16303523" cy="44948"/>
            <a:chOff x="0" y="0"/>
            <a:chExt cx="21738031" cy="59931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1738082" cy="59944"/>
            </a:xfrm>
            <a:custGeom>
              <a:avLst/>
              <a:gdLst/>
              <a:ahLst/>
              <a:cxnLst/>
              <a:rect l="l" t="t" r="r" b="b"/>
              <a:pathLst>
                <a:path w="21738082" h="59944">
                  <a:moveTo>
                    <a:pt x="0" y="0"/>
                  </a:moveTo>
                  <a:lnTo>
                    <a:pt x="21738082" y="0"/>
                  </a:lnTo>
                  <a:lnTo>
                    <a:pt x="21738082" y="59944"/>
                  </a:lnTo>
                  <a:lnTo>
                    <a:pt x="0" y="59944"/>
                  </a:lnTo>
                  <a:close/>
                </a:path>
              </a:pathLst>
            </a:custGeom>
            <a:solidFill>
              <a:srgbClr val="384653">
                <a:alpha val="24706"/>
              </a:srgbClr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992238" y="6446939"/>
            <a:ext cx="16303523" cy="50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By </a:t>
            </a:r>
            <a:r>
              <a:rPr lang="en-US" sz="2187" b="1">
                <a:solidFill>
                  <a:srgbClr val="384653"/>
                </a:solidFill>
                <a:latin typeface="Roboto Bold"/>
                <a:ea typeface="Roboto Bold"/>
                <a:cs typeface="Roboto Bold"/>
                <a:sym typeface="Roboto Bold"/>
              </a:rPr>
              <a:t>Krishna Bhise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87476" y="2891428"/>
            <a:ext cx="1468936" cy="538753"/>
            <a:chOff x="0" y="0"/>
            <a:chExt cx="1958581" cy="7183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58594" cy="718312"/>
            </a:xfrm>
            <a:custGeom>
              <a:avLst/>
              <a:gdLst/>
              <a:ahLst/>
              <a:cxnLst/>
              <a:rect l="l" t="t" r="r" b="b"/>
              <a:pathLst>
                <a:path w="1958594" h="718312">
                  <a:moveTo>
                    <a:pt x="0" y="133350"/>
                  </a:moveTo>
                  <a:cubicBezTo>
                    <a:pt x="0" y="59690"/>
                    <a:pt x="60452" y="0"/>
                    <a:pt x="134874" y="0"/>
                  </a:cubicBezTo>
                  <a:lnTo>
                    <a:pt x="1823720" y="0"/>
                  </a:lnTo>
                  <a:lnTo>
                    <a:pt x="1823720" y="6350"/>
                  </a:lnTo>
                  <a:lnTo>
                    <a:pt x="1823720" y="0"/>
                  </a:lnTo>
                  <a:cubicBezTo>
                    <a:pt x="1898142" y="0"/>
                    <a:pt x="1958594" y="59690"/>
                    <a:pt x="1958594" y="133350"/>
                  </a:cubicBezTo>
                  <a:lnTo>
                    <a:pt x="1952244" y="133350"/>
                  </a:lnTo>
                  <a:lnTo>
                    <a:pt x="1958594" y="133350"/>
                  </a:lnTo>
                  <a:lnTo>
                    <a:pt x="1958594" y="584962"/>
                  </a:lnTo>
                  <a:lnTo>
                    <a:pt x="1952244" y="584962"/>
                  </a:lnTo>
                  <a:lnTo>
                    <a:pt x="1958594" y="584962"/>
                  </a:lnTo>
                  <a:cubicBezTo>
                    <a:pt x="1958594" y="658749"/>
                    <a:pt x="1898142" y="718312"/>
                    <a:pt x="1823720" y="718312"/>
                  </a:cubicBezTo>
                  <a:lnTo>
                    <a:pt x="1823720" y="711962"/>
                  </a:lnTo>
                  <a:lnTo>
                    <a:pt x="1823720" y="718312"/>
                  </a:lnTo>
                  <a:lnTo>
                    <a:pt x="134874" y="718312"/>
                  </a:lnTo>
                  <a:lnTo>
                    <a:pt x="134874" y="711962"/>
                  </a:lnTo>
                  <a:lnTo>
                    <a:pt x="134874" y="718312"/>
                  </a:lnTo>
                  <a:cubicBezTo>
                    <a:pt x="60452" y="718312"/>
                    <a:pt x="0" y="658749"/>
                    <a:pt x="0" y="584962"/>
                  </a:cubicBezTo>
                  <a:lnTo>
                    <a:pt x="0" y="133350"/>
                  </a:lnTo>
                  <a:lnTo>
                    <a:pt x="6350" y="133350"/>
                  </a:lnTo>
                  <a:lnTo>
                    <a:pt x="0" y="133350"/>
                  </a:lnTo>
                  <a:moveTo>
                    <a:pt x="12700" y="133350"/>
                  </a:moveTo>
                  <a:lnTo>
                    <a:pt x="12700" y="584962"/>
                  </a:lnTo>
                  <a:lnTo>
                    <a:pt x="6350" y="584962"/>
                  </a:lnTo>
                  <a:lnTo>
                    <a:pt x="12700" y="584962"/>
                  </a:lnTo>
                  <a:cubicBezTo>
                    <a:pt x="12700" y="651510"/>
                    <a:pt x="67310" y="705612"/>
                    <a:pt x="134874" y="705612"/>
                  </a:cubicBezTo>
                  <a:lnTo>
                    <a:pt x="1823720" y="705612"/>
                  </a:lnTo>
                  <a:cubicBezTo>
                    <a:pt x="1891284" y="705612"/>
                    <a:pt x="1945894" y="651510"/>
                    <a:pt x="1945894" y="584962"/>
                  </a:cubicBezTo>
                  <a:lnTo>
                    <a:pt x="1945894" y="133350"/>
                  </a:lnTo>
                  <a:cubicBezTo>
                    <a:pt x="1945894" y="66802"/>
                    <a:pt x="1891284" y="12700"/>
                    <a:pt x="1823720" y="12700"/>
                  </a:cubicBezTo>
                  <a:lnTo>
                    <a:pt x="134874" y="12700"/>
                  </a:lnTo>
                  <a:lnTo>
                    <a:pt x="134874" y="6350"/>
                  </a:lnTo>
                  <a:lnTo>
                    <a:pt x="134874" y="12700"/>
                  </a:lnTo>
                  <a:cubicBezTo>
                    <a:pt x="67310" y="12700"/>
                    <a:pt x="12700" y="66802"/>
                    <a:pt x="12700" y="133350"/>
                  </a:cubicBezTo>
                  <a:close/>
                </a:path>
              </a:pathLst>
            </a:custGeom>
            <a:solidFill>
              <a:srgbClr val="95CCDA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71870" y="2933548"/>
            <a:ext cx="1520264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95CCDA"/>
                </a:solidFill>
                <a:latin typeface="Roboto"/>
                <a:ea typeface="Roboto"/>
                <a:cs typeface="Roboto"/>
                <a:sym typeface="Roboto"/>
              </a:rPr>
              <a:t>OVERVIEW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3481683"/>
            <a:ext cx="7088238" cy="94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Project Overview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88041" y="4850016"/>
            <a:ext cx="8214274" cy="2540641"/>
            <a:chOff x="0" y="0"/>
            <a:chExt cx="10952366" cy="338752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952353" cy="3387471"/>
            </a:xfrm>
            <a:custGeom>
              <a:avLst/>
              <a:gdLst/>
              <a:ahLst/>
              <a:cxnLst/>
              <a:rect l="l" t="t" r="r" b="b"/>
              <a:pathLst>
                <a:path w="10952353" h="3387471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10680192" y="0"/>
                  </a:lnTo>
                  <a:cubicBezTo>
                    <a:pt x="10830561" y="0"/>
                    <a:pt x="10952353" y="121920"/>
                    <a:pt x="10952353" y="272161"/>
                  </a:cubicBezTo>
                  <a:lnTo>
                    <a:pt x="10952353" y="3115310"/>
                  </a:lnTo>
                  <a:cubicBezTo>
                    <a:pt x="10952353" y="3265678"/>
                    <a:pt x="10830433" y="3387471"/>
                    <a:pt x="10680192" y="3387471"/>
                  </a:cubicBezTo>
                  <a:lnTo>
                    <a:pt x="272161" y="3387471"/>
                  </a:lnTo>
                  <a:cubicBezTo>
                    <a:pt x="121920" y="3387471"/>
                    <a:pt x="0" y="3265678"/>
                    <a:pt x="0" y="3115310"/>
                  </a:cubicBezTo>
                  <a:close/>
                </a:path>
              </a:pathLst>
            </a:custGeom>
            <a:solidFill>
              <a:srgbClr val="95CCDA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1071562" y="5095427"/>
            <a:ext cx="3782616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What This Project Does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1562" y="5783761"/>
            <a:ext cx="7647232" cy="1351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Analyzes employee data to understand </a:t>
            </a:r>
            <a:r>
              <a:rPr lang="en-US" sz="2187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attrition trends</a:t>
            </a:r>
            <a:r>
              <a:rPr lang="en-US" sz="218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-US" sz="2187" b="1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workforce patterns</a:t>
            </a:r>
            <a:r>
              <a:rPr lang="en-US" sz="218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using Power BI — empowering HR teams with actionable, data-driven insights.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499397" y="5095427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Why It Matters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99397" y="5783761"/>
            <a:ext cx="7805890" cy="1351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Employee attrition is one of the most costly challenges organizations face. Understanding the </a:t>
            </a:r>
            <a:r>
              <a:rPr lang="en-US" sz="2187" i="1">
                <a:solidFill>
                  <a:srgbClr val="384653"/>
                </a:solidFill>
                <a:latin typeface="Roboto Italics"/>
                <a:ea typeface="Roboto Italics"/>
                <a:cs typeface="Roboto Italics"/>
                <a:sym typeface="Roboto Italics"/>
              </a:rPr>
              <a:t>why</a:t>
            </a: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 behind turnover is the first step to solving 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899522" y="705745"/>
            <a:ext cx="2278704" cy="479669"/>
            <a:chOff x="0" y="0"/>
            <a:chExt cx="3038272" cy="639559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038221" cy="639445"/>
            </a:xfrm>
            <a:custGeom>
              <a:avLst/>
              <a:gdLst/>
              <a:ahLst/>
              <a:cxnLst/>
              <a:rect l="l" t="t" r="r" b="b"/>
              <a:pathLst>
                <a:path w="3038221" h="639445">
                  <a:moveTo>
                    <a:pt x="0" y="122047"/>
                  </a:moveTo>
                  <a:cubicBezTo>
                    <a:pt x="0" y="54610"/>
                    <a:pt x="55626" y="0"/>
                    <a:pt x="123952" y="0"/>
                  </a:cubicBezTo>
                  <a:lnTo>
                    <a:pt x="2914269" y="0"/>
                  </a:lnTo>
                  <a:lnTo>
                    <a:pt x="2914269" y="6350"/>
                  </a:lnTo>
                  <a:lnTo>
                    <a:pt x="2914269" y="0"/>
                  </a:lnTo>
                  <a:cubicBezTo>
                    <a:pt x="2982595" y="0"/>
                    <a:pt x="3038221" y="54610"/>
                    <a:pt x="3038221" y="122047"/>
                  </a:cubicBezTo>
                  <a:lnTo>
                    <a:pt x="3031871" y="122047"/>
                  </a:lnTo>
                  <a:lnTo>
                    <a:pt x="3038221" y="122047"/>
                  </a:lnTo>
                  <a:lnTo>
                    <a:pt x="3038221" y="517398"/>
                  </a:lnTo>
                  <a:lnTo>
                    <a:pt x="3031871" y="517398"/>
                  </a:lnTo>
                  <a:lnTo>
                    <a:pt x="3038221" y="517398"/>
                  </a:lnTo>
                  <a:cubicBezTo>
                    <a:pt x="3038221" y="584962"/>
                    <a:pt x="2982595" y="639445"/>
                    <a:pt x="2914269" y="639445"/>
                  </a:cubicBezTo>
                  <a:lnTo>
                    <a:pt x="2914269" y="633095"/>
                  </a:lnTo>
                  <a:lnTo>
                    <a:pt x="2914269" y="639445"/>
                  </a:lnTo>
                  <a:lnTo>
                    <a:pt x="123952" y="639445"/>
                  </a:lnTo>
                  <a:lnTo>
                    <a:pt x="123952" y="633095"/>
                  </a:lnTo>
                  <a:lnTo>
                    <a:pt x="123952" y="639445"/>
                  </a:lnTo>
                  <a:cubicBezTo>
                    <a:pt x="55626" y="639572"/>
                    <a:pt x="0" y="584962"/>
                    <a:pt x="0" y="517398"/>
                  </a:cubicBezTo>
                  <a:lnTo>
                    <a:pt x="0" y="122047"/>
                  </a:lnTo>
                  <a:lnTo>
                    <a:pt x="6350" y="122047"/>
                  </a:lnTo>
                  <a:lnTo>
                    <a:pt x="0" y="122047"/>
                  </a:lnTo>
                  <a:moveTo>
                    <a:pt x="12700" y="122047"/>
                  </a:moveTo>
                  <a:lnTo>
                    <a:pt x="12700" y="517398"/>
                  </a:lnTo>
                  <a:lnTo>
                    <a:pt x="6350" y="517398"/>
                  </a:lnTo>
                  <a:lnTo>
                    <a:pt x="12700" y="517398"/>
                  </a:lnTo>
                  <a:cubicBezTo>
                    <a:pt x="12700" y="577723"/>
                    <a:pt x="62357" y="626745"/>
                    <a:pt x="123952" y="626745"/>
                  </a:cubicBezTo>
                  <a:lnTo>
                    <a:pt x="2914269" y="626745"/>
                  </a:lnTo>
                  <a:cubicBezTo>
                    <a:pt x="2975864" y="626745"/>
                    <a:pt x="3025521" y="577723"/>
                    <a:pt x="3025521" y="517398"/>
                  </a:cubicBezTo>
                  <a:lnTo>
                    <a:pt x="3025521" y="122047"/>
                  </a:lnTo>
                  <a:cubicBezTo>
                    <a:pt x="3025521" y="61722"/>
                    <a:pt x="2975864" y="12700"/>
                    <a:pt x="2914269" y="12700"/>
                  </a:cubicBezTo>
                  <a:lnTo>
                    <a:pt x="123952" y="12700"/>
                  </a:lnTo>
                  <a:lnTo>
                    <a:pt x="123952" y="6350"/>
                  </a:lnTo>
                  <a:lnTo>
                    <a:pt x="123952" y="12700"/>
                  </a:lnTo>
                  <a:cubicBezTo>
                    <a:pt x="62357" y="12700"/>
                    <a:pt x="12700" y="61722"/>
                    <a:pt x="12700" y="122047"/>
                  </a:cubicBezTo>
                  <a:close/>
                </a:path>
              </a:pathLst>
            </a:custGeom>
            <a:solidFill>
              <a:srgbClr val="95CCDA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068734" y="749798"/>
            <a:ext cx="1940271" cy="343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625">
                <a:solidFill>
                  <a:srgbClr val="95CCDA"/>
                </a:solidFill>
                <a:latin typeface="Roboto"/>
                <a:ea typeface="Roboto"/>
                <a:cs typeface="Roboto"/>
                <a:sym typeface="Roboto"/>
              </a:rPr>
              <a:t>BUSINESS PROBLEM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04284" y="1217562"/>
            <a:ext cx="6459741" cy="8645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12"/>
              </a:lnSpc>
            </a:pPr>
            <a:r>
              <a:rPr lang="en-US" sz="5062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The Challenge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267120" y="2435276"/>
            <a:ext cx="15753607" cy="6175924"/>
            <a:chOff x="0" y="0"/>
            <a:chExt cx="21004809" cy="8234566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21004785" cy="8234553"/>
            </a:xfrm>
            <a:custGeom>
              <a:avLst/>
              <a:gdLst/>
              <a:ahLst/>
              <a:cxnLst/>
              <a:rect l="l" t="t" r="r" b="b"/>
              <a:pathLst>
                <a:path w="21004785" h="8234553">
                  <a:moveTo>
                    <a:pt x="0" y="0"/>
                  </a:moveTo>
                  <a:lnTo>
                    <a:pt x="21004785" y="0"/>
                  </a:lnTo>
                  <a:lnTo>
                    <a:pt x="21004785" y="8234553"/>
                  </a:lnTo>
                  <a:lnTo>
                    <a:pt x="0" y="82345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32" r="-32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1644139" y="2709577"/>
            <a:ext cx="2883884" cy="955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25"/>
              </a:lnSpc>
            </a:pPr>
            <a:r>
              <a:rPr lang="en-US" sz="2874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Identify Problems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759539" y="2709577"/>
            <a:ext cx="2883884" cy="492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Define Goals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759539" y="7816110"/>
            <a:ext cx="2883884" cy="492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874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Analyze Data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44139" y="7352633"/>
            <a:ext cx="2883884" cy="9555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625"/>
              </a:lnSpc>
            </a:pPr>
            <a:r>
              <a:rPr lang="en-US" sz="2874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Implement Solutions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04284" y="8818807"/>
            <a:ext cx="16479441" cy="7977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000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High employee attrition strains resources and disrupts team performance. This project targets the root causes to enable smarter retention strategies.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87476" y="1261615"/>
            <a:ext cx="1668809" cy="538753"/>
            <a:chOff x="0" y="0"/>
            <a:chExt cx="2225078" cy="7183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225040" cy="718312"/>
            </a:xfrm>
            <a:custGeom>
              <a:avLst/>
              <a:gdLst/>
              <a:ahLst/>
              <a:cxnLst/>
              <a:rect l="l" t="t" r="r" b="b"/>
              <a:pathLst>
                <a:path w="2225040" h="718312">
                  <a:moveTo>
                    <a:pt x="0" y="133350"/>
                  </a:moveTo>
                  <a:cubicBezTo>
                    <a:pt x="0" y="59690"/>
                    <a:pt x="60452" y="0"/>
                    <a:pt x="134874" y="0"/>
                  </a:cubicBezTo>
                  <a:lnTo>
                    <a:pt x="2090166" y="0"/>
                  </a:lnTo>
                  <a:lnTo>
                    <a:pt x="2090166" y="6350"/>
                  </a:lnTo>
                  <a:lnTo>
                    <a:pt x="2090166" y="0"/>
                  </a:lnTo>
                  <a:cubicBezTo>
                    <a:pt x="2164588" y="0"/>
                    <a:pt x="2225040" y="59690"/>
                    <a:pt x="2225040" y="133350"/>
                  </a:cubicBezTo>
                  <a:lnTo>
                    <a:pt x="2218690" y="133350"/>
                  </a:lnTo>
                  <a:lnTo>
                    <a:pt x="2225040" y="133350"/>
                  </a:lnTo>
                  <a:lnTo>
                    <a:pt x="2225040" y="584962"/>
                  </a:lnTo>
                  <a:lnTo>
                    <a:pt x="2218690" y="584962"/>
                  </a:lnTo>
                  <a:lnTo>
                    <a:pt x="2225040" y="584962"/>
                  </a:lnTo>
                  <a:cubicBezTo>
                    <a:pt x="2225040" y="658749"/>
                    <a:pt x="2164588" y="718312"/>
                    <a:pt x="2090166" y="718312"/>
                  </a:cubicBezTo>
                  <a:lnTo>
                    <a:pt x="2090166" y="711962"/>
                  </a:lnTo>
                  <a:lnTo>
                    <a:pt x="2090166" y="718312"/>
                  </a:lnTo>
                  <a:lnTo>
                    <a:pt x="134874" y="718312"/>
                  </a:lnTo>
                  <a:lnTo>
                    <a:pt x="134874" y="711962"/>
                  </a:lnTo>
                  <a:lnTo>
                    <a:pt x="134874" y="718312"/>
                  </a:lnTo>
                  <a:cubicBezTo>
                    <a:pt x="60452" y="718312"/>
                    <a:pt x="0" y="658749"/>
                    <a:pt x="0" y="584962"/>
                  </a:cubicBezTo>
                  <a:lnTo>
                    <a:pt x="0" y="133350"/>
                  </a:lnTo>
                  <a:lnTo>
                    <a:pt x="6350" y="133350"/>
                  </a:lnTo>
                  <a:lnTo>
                    <a:pt x="0" y="133350"/>
                  </a:lnTo>
                  <a:moveTo>
                    <a:pt x="12700" y="133350"/>
                  </a:moveTo>
                  <a:lnTo>
                    <a:pt x="12700" y="584962"/>
                  </a:lnTo>
                  <a:lnTo>
                    <a:pt x="6350" y="584962"/>
                  </a:lnTo>
                  <a:lnTo>
                    <a:pt x="12700" y="584962"/>
                  </a:lnTo>
                  <a:cubicBezTo>
                    <a:pt x="12700" y="651510"/>
                    <a:pt x="67310" y="705612"/>
                    <a:pt x="134874" y="705612"/>
                  </a:cubicBezTo>
                  <a:lnTo>
                    <a:pt x="2090166" y="705612"/>
                  </a:lnTo>
                  <a:cubicBezTo>
                    <a:pt x="2157730" y="705612"/>
                    <a:pt x="2212340" y="651510"/>
                    <a:pt x="2212340" y="584962"/>
                  </a:cubicBezTo>
                  <a:lnTo>
                    <a:pt x="2212340" y="133350"/>
                  </a:lnTo>
                  <a:cubicBezTo>
                    <a:pt x="2212340" y="66802"/>
                    <a:pt x="2157730" y="12700"/>
                    <a:pt x="2090166" y="12700"/>
                  </a:cubicBezTo>
                  <a:lnTo>
                    <a:pt x="134874" y="12700"/>
                  </a:lnTo>
                  <a:lnTo>
                    <a:pt x="134874" y="6350"/>
                  </a:lnTo>
                  <a:lnTo>
                    <a:pt x="134874" y="12700"/>
                  </a:lnTo>
                  <a:cubicBezTo>
                    <a:pt x="67310" y="12700"/>
                    <a:pt x="12700" y="66802"/>
                    <a:pt x="12700" y="133350"/>
                  </a:cubicBezTo>
                  <a:close/>
                </a:path>
              </a:pathLst>
            </a:custGeom>
            <a:solidFill>
              <a:srgbClr val="95CCDA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71870" y="1303734"/>
            <a:ext cx="1300010" cy="397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95CCDA"/>
                </a:solidFill>
                <a:latin typeface="Roboto"/>
                <a:ea typeface="Roboto"/>
                <a:cs typeface="Roboto"/>
                <a:sym typeface="Roboto"/>
              </a:rPr>
              <a:t>OBJECTIVES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1851870"/>
            <a:ext cx="7088238" cy="94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Project Objectives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87476" y="3215430"/>
            <a:ext cx="8019459" cy="2767908"/>
            <a:chOff x="0" y="0"/>
            <a:chExt cx="10692613" cy="3690544"/>
          </a:xfrm>
        </p:grpSpPr>
        <p:sp>
          <p:nvSpPr>
            <p:cNvPr id="11" name="Freeform 11"/>
            <p:cNvSpPr/>
            <p:nvPr/>
          </p:nvSpPr>
          <p:spPr>
            <a:xfrm>
              <a:off x="6350" y="6350"/>
              <a:ext cx="10679938" cy="3677793"/>
            </a:xfrm>
            <a:custGeom>
              <a:avLst/>
              <a:gdLst/>
              <a:ahLst/>
              <a:cxnLst/>
              <a:rect l="l" t="t" r="r" b="b"/>
              <a:pathLst>
                <a:path w="10679938" h="3677793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10520807" y="0"/>
                  </a:lnTo>
                  <a:cubicBezTo>
                    <a:pt x="10608690" y="0"/>
                    <a:pt x="10679938" y="71120"/>
                    <a:pt x="10679938" y="158750"/>
                  </a:cubicBezTo>
                  <a:lnTo>
                    <a:pt x="10679938" y="3519043"/>
                  </a:lnTo>
                  <a:cubicBezTo>
                    <a:pt x="10679938" y="3606673"/>
                    <a:pt x="10608690" y="3677793"/>
                    <a:pt x="10520807" y="3677793"/>
                  </a:cubicBezTo>
                  <a:lnTo>
                    <a:pt x="159131" y="3677793"/>
                  </a:lnTo>
                  <a:cubicBezTo>
                    <a:pt x="71247" y="3677793"/>
                    <a:pt x="0" y="3606800"/>
                    <a:pt x="0" y="3519043"/>
                  </a:cubicBezTo>
                  <a:close/>
                </a:path>
              </a:pathLst>
            </a:custGeom>
            <a:solidFill>
              <a:srgbClr val="D9EDF2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10692638" cy="3690493"/>
            </a:xfrm>
            <a:custGeom>
              <a:avLst/>
              <a:gdLst/>
              <a:ahLst/>
              <a:cxnLst/>
              <a:rect l="l" t="t" r="r" b="b"/>
              <a:pathLst>
                <a:path w="10692638" h="3690493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10527157" y="0"/>
                  </a:lnTo>
                  <a:lnTo>
                    <a:pt x="10527157" y="6350"/>
                  </a:lnTo>
                  <a:lnTo>
                    <a:pt x="10527157" y="0"/>
                  </a:lnTo>
                  <a:cubicBezTo>
                    <a:pt x="10618597" y="0"/>
                    <a:pt x="10692638" y="73914"/>
                    <a:pt x="10692638" y="165100"/>
                  </a:cubicBezTo>
                  <a:lnTo>
                    <a:pt x="10686288" y="165100"/>
                  </a:lnTo>
                  <a:lnTo>
                    <a:pt x="10692638" y="165100"/>
                  </a:lnTo>
                  <a:lnTo>
                    <a:pt x="10692638" y="3525393"/>
                  </a:lnTo>
                  <a:lnTo>
                    <a:pt x="10686288" y="3525393"/>
                  </a:lnTo>
                  <a:lnTo>
                    <a:pt x="10692638" y="3525393"/>
                  </a:lnTo>
                  <a:cubicBezTo>
                    <a:pt x="10692638" y="3616579"/>
                    <a:pt x="10618597" y="3690493"/>
                    <a:pt x="10527157" y="3690493"/>
                  </a:cubicBezTo>
                  <a:lnTo>
                    <a:pt x="10527157" y="3684143"/>
                  </a:lnTo>
                  <a:lnTo>
                    <a:pt x="10527157" y="3690493"/>
                  </a:lnTo>
                  <a:lnTo>
                    <a:pt x="165481" y="3690493"/>
                  </a:lnTo>
                  <a:lnTo>
                    <a:pt x="165481" y="3684143"/>
                  </a:lnTo>
                  <a:lnTo>
                    <a:pt x="165481" y="3690493"/>
                  </a:lnTo>
                  <a:cubicBezTo>
                    <a:pt x="74041" y="3690493"/>
                    <a:pt x="0" y="3616579"/>
                    <a:pt x="0" y="3525393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525393"/>
                  </a:lnTo>
                  <a:lnTo>
                    <a:pt x="6350" y="3525393"/>
                  </a:lnTo>
                  <a:lnTo>
                    <a:pt x="12700" y="3525393"/>
                  </a:lnTo>
                  <a:cubicBezTo>
                    <a:pt x="12700" y="3609594"/>
                    <a:pt x="81026" y="3677793"/>
                    <a:pt x="165481" y="3677793"/>
                  </a:cubicBezTo>
                  <a:lnTo>
                    <a:pt x="10527157" y="3677793"/>
                  </a:lnTo>
                  <a:cubicBezTo>
                    <a:pt x="10611612" y="3677793"/>
                    <a:pt x="10679938" y="3609594"/>
                    <a:pt x="10679938" y="3525393"/>
                  </a:cubicBezTo>
                  <a:lnTo>
                    <a:pt x="10679938" y="165100"/>
                  </a:lnTo>
                  <a:cubicBezTo>
                    <a:pt x="10679938" y="80899"/>
                    <a:pt x="10611612" y="12700"/>
                    <a:pt x="10527157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285284" y="3513239"/>
            <a:ext cx="850554" cy="850554"/>
            <a:chOff x="0" y="0"/>
            <a:chExt cx="1134072" cy="1134072"/>
          </a:xfrm>
        </p:grpSpPr>
        <p:sp>
          <p:nvSpPr>
            <p:cNvPr id="14" name="Freeform 14" descr="preencoded.png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r="3" b="3"/>
              </a:stretch>
            </a:blipFill>
          </p:spPr>
        </p:sp>
      </p:grpSp>
      <p:sp>
        <p:nvSpPr>
          <p:cNvPr id="15" name="Freeform 15" descr="preencoded.png"/>
          <p:cNvSpPr/>
          <p:nvPr/>
        </p:nvSpPr>
        <p:spPr>
          <a:xfrm>
            <a:off x="1519238" y="3747049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20730" r="-20733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285284" y="4609205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Attrition Trends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85284" y="5184134"/>
            <a:ext cx="7423842" cy="50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Analyze patterns over time and across departments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9280922" y="3215430"/>
            <a:ext cx="8019602" cy="2767908"/>
            <a:chOff x="0" y="0"/>
            <a:chExt cx="10692803" cy="3690544"/>
          </a:xfrm>
        </p:grpSpPr>
        <p:sp>
          <p:nvSpPr>
            <p:cNvPr id="19" name="Freeform 19"/>
            <p:cNvSpPr/>
            <p:nvPr/>
          </p:nvSpPr>
          <p:spPr>
            <a:xfrm>
              <a:off x="6350" y="6350"/>
              <a:ext cx="10680065" cy="3677793"/>
            </a:xfrm>
            <a:custGeom>
              <a:avLst/>
              <a:gdLst/>
              <a:ahLst/>
              <a:cxnLst/>
              <a:rect l="l" t="t" r="r" b="b"/>
              <a:pathLst>
                <a:path w="10680065" h="3677793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10520934" y="0"/>
                  </a:lnTo>
                  <a:cubicBezTo>
                    <a:pt x="10608818" y="0"/>
                    <a:pt x="10680065" y="71120"/>
                    <a:pt x="10680065" y="158750"/>
                  </a:cubicBezTo>
                  <a:lnTo>
                    <a:pt x="10680065" y="3519043"/>
                  </a:lnTo>
                  <a:cubicBezTo>
                    <a:pt x="10680065" y="3606673"/>
                    <a:pt x="10608818" y="3677793"/>
                    <a:pt x="10520934" y="3677793"/>
                  </a:cubicBezTo>
                  <a:lnTo>
                    <a:pt x="159131" y="3677793"/>
                  </a:lnTo>
                  <a:cubicBezTo>
                    <a:pt x="71247" y="3677793"/>
                    <a:pt x="0" y="3606800"/>
                    <a:pt x="0" y="3519043"/>
                  </a:cubicBezTo>
                  <a:close/>
                </a:path>
              </a:pathLst>
            </a:custGeom>
            <a:solidFill>
              <a:srgbClr val="D9EDF2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0"/>
              <a:ext cx="10692765" cy="3690493"/>
            </a:xfrm>
            <a:custGeom>
              <a:avLst/>
              <a:gdLst/>
              <a:ahLst/>
              <a:cxnLst/>
              <a:rect l="l" t="t" r="r" b="b"/>
              <a:pathLst>
                <a:path w="10692765" h="3690493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10527284" y="0"/>
                  </a:lnTo>
                  <a:lnTo>
                    <a:pt x="10527284" y="6350"/>
                  </a:lnTo>
                  <a:lnTo>
                    <a:pt x="10527284" y="0"/>
                  </a:lnTo>
                  <a:cubicBezTo>
                    <a:pt x="10618724" y="0"/>
                    <a:pt x="10692765" y="73914"/>
                    <a:pt x="10692765" y="165100"/>
                  </a:cubicBezTo>
                  <a:lnTo>
                    <a:pt x="10686415" y="165100"/>
                  </a:lnTo>
                  <a:lnTo>
                    <a:pt x="10692765" y="165100"/>
                  </a:lnTo>
                  <a:lnTo>
                    <a:pt x="10692765" y="3525393"/>
                  </a:lnTo>
                  <a:lnTo>
                    <a:pt x="10686415" y="3525393"/>
                  </a:lnTo>
                  <a:lnTo>
                    <a:pt x="10692765" y="3525393"/>
                  </a:lnTo>
                  <a:cubicBezTo>
                    <a:pt x="10692765" y="3616579"/>
                    <a:pt x="10618724" y="3690493"/>
                    <a:pt x="10527284" y="3690493"/>
                  </a:cubicBezTo>
                  <a:lnTo>
                    <a:pt x="10527284" y="3684143"/>
                  </a:lnTo>
                  <a:lnTo>
                    <a:pt x="10527284" y="3690493"/>
                  </a:lnTo>
                  <a:lnTo>
                    <a:pt x="165481" y="3690493"/>
                  </a:lnTo>
                  <a:lnTo>
                    <a:pt x="165481" y="3684143"/>
                  </a:lnTo>
                  <a:lnTo>
                    <a:pt x="165481" y="3690493"/>
                  </a:lnTo>
                  <a:cubicBezTo>
                    <a:pt x="74041" y="3690493"/>
                    <a:pt x="0" y="3616579"/>
                    <a:pt x="0" y="3525393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525393"/>
                  </a:lnTo>
                  <a:lnTo>
                    <a:pt x="6350" y="3525393"/>
                  </a:lnTo>
                  <a:lnTo>
                    <a:pt x="12700" y="3525393"/>
                  </a:lnTo>
                  <a:cubicBezTo>
                    <a:pt x="12700" y="3609594"/>
                    <a:pt x="81026" y="3677793"/>
                    <a:pt x="165481" y="3677793"/>
                  </a:cubicBezTo>
                  <a:lnTo>
                    <a:pt x="10527284" y="3677793"/>
                  </a:lnTo>
                  <a:cubicBezTo>
                    <a:pt x="10611739" y="3677793"/>
                    <a:pt x="10680065" y="3609594"/>
                    <a:pt x="10680065" y="3525393"/>
                  </a:cubicBezTo>
                  <a:lnTo>
                    <a:pt x="10680065" y="165100"/>
                  </a:lnTo>
                  <a:cubicBezTo>
                    <a:pt x="10680065" y="80899"/>
                    <a:pt x="10611739" y="12700"/>
                    <a:pt x="10527284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9578731" y="3513239"/>
            <a:ext cx="850554" cy="850554"/>
            <a:chOff x="0" y="0"/>
            <a:chExt cx="1134072" cy="1134072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r="3" b="3"/>
              </a:stretch>
            </a:blipFill>
          </p:spPr>
        </p:sp>
      </p:grpSp>
      <p:sp>
        <p:nvSpPr>
          <p:cNvPr id="23" name="Freeform 23" descr="preencoded.png"/>
          <p:cNvSpPr/>
          <p:nvPr/>
        </p:nvSpPr>
        <p:spPr>
          <a:xfrm>
            <a:off x="9812684" y="3747049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9"/>
                </a:lnTo>
                <a:lnTo>
                  <a:pt x="0" y="38263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1219" b="-1219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9578731" y="4609205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High-Risk Groups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9578731" y="5184134"/>
            <a:ext cx="7423995" cy="50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Identify employee segments most likely to leave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987476" y="6257334"/>
            <a:ext cx="8019459" cy="2767908"/>
            <a:chOff x="0" y="0"/>
            <a:chExt cx="10692613" cy="3690544"/>
          </a:xfrm>
        </p:grpSpPr>
        <p:sp>
          <p:nvSpPr>
            <p:cNvPr id="27" name="Freeform 27"/>
            <p:cNvSpPr/>
            <p:nvPr/>
          </p:nvSpPr>
          <p:spPr>
            <a:xfrm>
              <a:off x="6350" y="6350"/>
              <a:ext cx="10679938" cy="3677793"/>
            </a:xfrm>
            <a:custGeom>
              <a:avLst/>
              <a:gdLst/>
              <a:ahLst/>
              <a:cxnLst/>
              <a:rect l="l" t="t" r="r" b="b"/>
              <a:pathLst>
                <a:path w="10679938" h="3677793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10520807" y="0"/>
                  </a:lnTo>
                  <a:cubicBezTo>
                    <a:pt x="10608690" y="0"/>
                    <a:pt x="10679938" y="71120"/>
                    <a:pt x="10679938" y="158750"/>
                  </a:cubicBezTo>
                  <a:lnTo>
                    <a:pt x="10679938" y="3519043"/>
                  </a:lnTo>
                  <a:cubicBezTo>
                    <a:pt x="10679938" y="3606673"/>
                    <a:pt x="10608690" y="3677793"/>
                    <a:pt x="10520807" y="3677793"/>
                  </a:cubicBezTo>
                  <a:lnTo>
                    <a:pt x="159131" y="3677793"/>
                  </a:lnTo>
                  <a:cubicBezTo>
                    <a:pt x="71247" y="3677793"/>
                    <a:pt x="0" y="3606800"/>
                    <a:pt x="0" y="3519043"/>
                  </a:cubicBezTo>
                  <a:close/>
                </a:path>
              </a:pathLst>
            </a:custGeom>
            <a:solidFill>
              <a:srgbClr val="D9EDF2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10692638" cy="3690493"/>
            </a:xfrm>
            <a:custGeom>
              <a:avLst/>
              <a:gdLst/>
              <a:ahLst/>
              <a:cxnLst/>
              <a:rect l="l" t="t" r="r" b="b"/>
              <a:pathLst>
                <a:path w="10692638" h="3690493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10527157" y="0"/>
                  </a:lnTo>
                  <a:lnTo>
                    <a:pt x="10527157" y="6350"/>
                  </a:lnTo>
                  <a:lnTo>
                    <a:pt x="10527157" y="0"/>
                  </a:lnTo>
                  <a:cubicBezTo>
                    <a:pt x="10618597" y="0"/>
                    <a:pt x="10692638" y="73914"/>
                    <a:pt x="10692638" y="165100"/>
                  </a:cubicBezTo>
                  <a:lnTo>
                    <a:pt x="10686288" y="165100"/>
                  </a:lnTo>
                  <a:lnTo>
                    <a:pt x="10692638" y="165100"/>
                  </a:lnTo>
                  <a:lnTo>
                    <a:pt x="10692638" y="3525393"/>
                  </a:lnTo>
                  <a:lnTo>
                    <a:pt x="10686288" y="3525393"/>
                  </a:lnTo>
                  <a:lnTo>
                    <a:pt x="10692638" y="3525393"/>
                  </a:lnTo>
                  <a:cubicBezTo>
                    <a:pt x="10692638" y="3616579"/>
                    <a:pt x="10618597" y="3690493"/>
                    <a:pt x="10527157" y="3690493"/>
                  </a:cubicBezTo>
                  <a:lnTo>
                    <a:pt x="10527157" y="3684143"/>
                  </a:lnTo>
                  <a:lnTo>
                    <a:pt x="10527157" y="3690493"/>
                  </a:lnTo>
                  <a:lnTo>
                    <a:pt x="165481" y="3690493"/>
                  </a:lnTo>
                  <a:lnTo>
                    <a:pt x="165481" y="3684143"/>
                  </a:lnTo>
                  <a:lnTo>
                    <a:pt x="165481" y="3690493"/>
                  </a:lnTo>
                  <a:cubicBezTo>
                    <a:pt x="74041" y="3690493"/>
                    <a:pt x="0" y="3616579"/>
                    <a:pt x="0" y="3525393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525393"/>
                  </a:lnTo>
                  <a:lnTo>
                    <a:pt x="6350" y="3525393"/>
                  </a:lnTo>
                  <a:lnTo>
                    <a:pt x="12700" y="3525393"/>
                  </a:lnTo>
                  <a:cubicBezTo>
                    <a:pt x="12700" y="3609594"/>
                    <a:pt x="81026" y="3677793"/>
                    <a:pt x="165481" y="3677793"/>
                  </a:cubicBezTo>
                  <a:lnTo>
                    <a:pt x="10527157" y="3677793"/>
                  </a:lnTo>
                  <a:cubicBezTo>
                    <a:pt x="10611612" y="3677793"/>
                    <a:pt x="10679938" y="3609594"/>
                    <a:pt x="10679938" y="3525393"/>
                  </a:cubicBezTo>
                  <a:lnTo>
                    <a:pt x="10679938" y="165100"/>
                  </a:lnTo>
                  <a:cubicBezTo>
                    <a:pt x="10679938" y="80899"/>
                    <a:pt x="10611612" y="12700"/>
                    <a:pt x="10527157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285284" y="6555134"/>
            <a:ext cx="850554" cy="850554"/>
            <a:chOff x="0" y="0"/>
            <a:chExt cx="1134072" cy="1134072"/>
          </a:xfrm>
        </p:grpSpPr>
        <p:sp>
          <p:nvSpPr>
            <p:cNvPr id="30" name="Freeform 30" descr="preencoded.png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r="3" b="3"/>
              </a:stretch>
            </a:blipFill>
          </p:spPr>
        </p:sp>
      </p:grpSp>
      <p:sp>
        <p:nvSpPr>
          <p:cNvPr id="31" name="Freeform 31" descr="preencoded.png"/>
          <p:cNvSpPr/>
          <p:nvPr/>
        </p:nvSpPr>
        <p:spPr>
          <a:xfrm>
            <a:off x="1519238" y="6788944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219" r="-1219"/>
            </a:stretch>
          </a:blipFill>
        </p:spPr>
      </p:sp>
      <p:sp>
        <p:nvSpPr>
          <p:cNvPr id="32" name="TextBox 32"/>
          <p:cNvSpPr txBox="1"/>
          <p:nvPr/>
        </p:nvSpPr>
        <p:spPr>
          <a:xfrm>
            <a:off x="1285284" y="7651109"/>
            <a:ext cx="3619795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Workforce Distribution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85284" y="8226028"/>
            <a:ext cx="7423842" cy="50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Understand how the workforce is structured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9280922" y="6257334"/>
            <a:ext cx="8019602" cy="2767908"/>
            <a:chOff x="0" y="0"/>
            <a:chExt cx="10692803" cy="3690544"/>
          </a:xfrm>
        </p:grpSpPr>
        <p:sp>
          <p:nvSpPr>
            <p:cNvPr id="35" name="Freeform 35"/>
            <p:cNvSpPr/>
            <p:nvPr/>
          </p:nvSpPr>
          <p:spPr>
            <a:xfrm>
              <a:off x="6350" y="6350"/>
              <a:ext cx="10680065" cy="3677793"/>
            </a:xfrm>
            <a:custGeom>
              <a:avLst/>
              <a:gdLst/>
              <a:ahLst/>
              <a:cxnLst/>
              <a:rect l="l" t="t" r="r" b="b"/>
              <a:pathLst>
                <a:path w="10680065" h="3677793">
                  <a:moveTo>
                    <a:pt x="0" y="158750"/>
                  </a:moveTo>
                  <a:cubicBezTo>
                    <a:pt x="0" y="71120"/>
                    <a:pt x="71247" y="0"/>
                    <a:pt x="159131" y="0"/>
                  </a:cubicBezTo>
                  <a:lnTo>
                    <a:pt x="10520934" y="0"/>
                  </a:lnTo>
                  <a:cubicBezTo>
                    <a:pt x="10608818" y="0"/>
                    <a:pt x="10680065" y="71120"/>
                    <a:pt x="10680065" y="158750"/>
                  </a:cubicBezTo>
                  <a:lnTo>
                    <a:pt x="10680065" y="3519043"/>
                  </a:lnTo>
                  <a:cubicBezTo>
                    <a:pt x="10680065" y="3606673"/>
                    <a:pt x="10608818" y="3677793"/>
                    <a:pt x="10520934" y="3677793"/>
                  </a:cubicBezTo>
                  <a:lnTo>
                    <a:pt x="159131" y="3677793"/>
                  </a:lnTo>
                  <a:cubicBezTo>
                    <a:pt x="71247" y="3677793"/>
                    <a:pt x="0" y="3606800"/>
                    <a:pt x="0" y="3519043"/>
                  </a:cubicBezTo>
                  <a:close/>
                </a:path>
              </a:pathLst>
            </a:custGeom>
            <a:solidFill>
              <a:srgbClr val="D9EDF2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0"/>
              <a:ext cx="10692765" cy="3690493"/>
            </a:xfrm>
            <a:custGeom>
              <a:avLst/>
              <a:gdLst/>
              <a:ahLst/>
              <a:cxnLst/>
              <a:rect l="l" t="t" r="r" b="b"/>
              <a:pathLst>
                <a:path w="10692765" h="3690493">
                  <a:moveTo>
                    <a:pt x="0" y="165100"/>
                  </a:moveTo>
                  <a:cubicBezTo>
                    <a:pt x="0" y="73914"/>
                    <a:pt x="74041" y="0"/>
                    <a:pt x="165481" y="0"/>
                  </a:cubicBezTo>
                  <a:lnTo>
                    <a:pt x="10527284" y="0"/>
                  </a:lnTo>
                  <a:lnTo>
                    <a:pt x="10527284" y="6350"/>
                  </a:lnTo>
                  <a:lnTo>
                    <a:pt x="10527284" y="0"/>
                  </a:lnTo>
                  <a:cubicBezTo>
                    <a:pt x="10618724" y="0"/>
                    <a:pt x="10692765" y="73914"/>
                    <a:pt x="10692765" y="165100"/>
                  </a:cubicBezTo>
                  <a:lnTo>
                    <a:pt x="10686415" y="165100"/>
                  </a:lnTo>
                  <a:lnTo>
                    <a:pt x="10692765" y="165100"/>
                  </a:lnTo>
                  <a:lnTo>
                    <a:pt x="10692765" y="3525393"/>
                  </a:lnTo>
                  <a:lnTo>
                    <a:pt x="10686415" y="3525393"/>
                  </a:lnTo>
                  <a:lnTo>
                    <a:pt x="10692765" y="3525393"/>
                  </a:lnTo>
                  <a:cubicBezTo>
                    <a:pt x="10692765" y="3616579"/>
                    <a:pt x="10618724" y="3690493"/>
                    <a:pt x="10527284" y="3690493"/>
                  </a:cubicBezTo>
                  <a:lnTo>
                    <a:pt x="10527284" y="3684143"/>
                  </a:lnTo>
                  <a:lnTo>
                    <a:pt x="10527284" y="3690493"/>
                  </a:lnTo>
                  <a:lnTo>
                    <a:pt x="165481" y="3690493"/>
                  </a:lnTo>
                  <a:lnTo>
                    <a:pt x="165481" y="3684143"/>
                  </a:lnTo>
                  <a:lnTo>
                    <a:pt x="165481" y="3690493"/>
                  </a:lnTo>
                  <a:cubicBezTo>
                    <a:pt x="74041" y="3690493"/>
                    <a:pt x="0" y="3616579"/>
                    <a:pt x="0" y="3525393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525393"/>
                  </a:lnTo>
                  <a:lnTo>
                    <a:pt x="6350" y="3525393"/>
                  </a:lnTo>
                  <a:lnTo>
                    <a:pt x="12700" y="3525393"/>
                  </a:lnTo>
                  <a:cubicBezTo>
                    <a:pt x="12700" y="3609594"/>
                    <a:pt x="81026" y="3677793"/>
                    <a:pt x="165481" y="3677793"/>
                  </a:cubicBezTo>
                  <a:lnTo>
                    <a:pt x="10527284" y="3677793"/>
                  </a:lnTo>
                  <a:cubicBezTo>
                    <a:pt x="10611739" y="3677793"/>
                    <a:pt x="10680065" y="3609594"/>
                    <a:pt x="10680065" y="3525393"/>
                  </a:cubicBezTo>
                  <a:lnTo>
                    <a:pt x="10680065" y="165100"/>
                  </a:lnTo>
                  <a:cubicBezTo>
                    <a:pt x="10680065" y="80899"/>
                    <a:pt x="10611739" y="12700"/>
                    <a:pt x="10527284" y="12700"/>
                  </a:cubicBezTo>
                  <a:lnTo>
                    <a:pt x="165481" y="12700"/>
                  </a:lnTo>
                  <a:lnTo>
                    <a:pt x="165481" y="6350"/>
                  </a:lnTo>
                  <a:lnTo>
                    <a:pt x="165481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9578731" y="6555134"/>
            <a:ext cx="850554" cy="850554"/>
            <a:chOff x="0" y="0"/>
            <a:chExt cx="1134072" cy="1134072"/>
          </a:xfrm>
        </p:grpSpPr>
        <p:sp>
          <p:nvSpPr>
            <p:cNvPr id="38" name="Freeform 38" descr="preencoded.png"/>
            <p:cNvSpPr/>
            <p:nvPr/>
          </p:nvSpPr>
          <p:spPr>
            <a:xfrm>
              <a:off x="0" y="0"/>
              <a:ext cx="1134110" cy="1134110"/>
            </a:xfrm>
            <a:custGeom>
              <a:avLst/>
              <a:gdLst/>
              <a:ahLst/>
              <a:cxnLst/>
              <a:rect l="l" t="t" r="r" b="b"/>
              <a:pathLst>
                <a:path w="1134110" h="1134110">
                  <a:moveTo>
                    <a:pt x="0" y="0"/>
                  </a:moveTo>
                  <a:lnTo>
                    <a:pt x="1134110" y="0"/>
                  </a:lnTo>
                  <a:lnTo>
                    <a:pt x="1134110" y="1134110"/>
                  </a:lnTo>
                  <a:lnTo>
                    <a:pt x="0" y="11341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r="3" b="3"/>
              </a:stretch>
            </a:blipFill>
          </p:spPr>
        </p:sp>
      </p:grpSp>
      <p:sp>
        <p:nvSpPr>
          <p:cNvPr id="39" name="Freeform 39" descr="preencoded.png"/>
          <p:cNvSpPr/>
          <p:nvPr/>
        </p:nvSpPr>
        <p:spPr>
          <a:xfrm>
            <a:off x="9812684" y="6788944"/>
            <a:ext cx="382638" cy="382638"/>
          </a:xfrm>
          <a:custGeom>
            <a:avLst/>
            <a:gdLst/>
            <a:ahLst/>
            <a:cxnLst/>
            <a:rect l="l" t="t" r="r" b="b"/>
            <a:pathLst>
              <a:path w="382638" h="382638">
                <a:moveTo>
                  <a:pt x="0" y="0"/>
                </a:moveTo>
                <a:lnTo>
                  <a:pt x="382638" y="0"/>
                </a:lnTo>
                <a:lnTo>
                  <a:pt x="382638" y="382638"/>
                </a:lnTo>
                <a:lnTo>
                  <a:pt x="0" y="38263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t="-18293" b="-18291"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9578731" y="7651109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Data-Driven HR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578731" y="8226028"/>
            <a:ext cx="7423995" cy="50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Support smarter, evidence-based HR decisions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87476" y="2608212"/>
            <a:ext cx="1324127" cy="538753"/>
            <a:chOff x="0" y="0"/>
            <a:chExt cx="1765503" cy="7183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765554" cy="718312"/>
            </a:xfrm>
            <a:custGeom>
              <a:avLst/>
              <a:gdLst/>
              <a:ahLst/>
              <a:cxnLst/>
              <a:rect l="l" t="t" r="r" b="b"/>
              <a:pathLst>
                <a:path w="1765554" h="718312">
                  <a:moveTo>
                    <a:pt x="0" y="133350"/>
                  </a:moveTo>
                  <a:cubicBezTo>
                    <a:pt x="0" y="59690"/>
                    <a:pt x="60325" y="0"/>
                    <a:pt x="134747" y="0"/>
                  </a:cubicBezTo>
                  <a:lnTo>
                    <a:pt x="1630807" y="0"/>
                  </a:lnTo>
                  <a:lnTo>
                    <a:pt x="1630807" y="6350"/>
                  </a:lnTo>
                  <a:lnTo>
                    <a:pt x="1630807" y="0"/>
                  </a:lnTo>
                  <a:cubicBezTo>
                    <a:pt x="1705102" y="0"/>
                    <a:pt x="1765554" y="59690"/>
                    <a:pt x="1765554" y="133350"/>
                  </a:cubicBezTo>
                  <a:lnTo>
                    <a:pt x="1759204" y="133350"/>
                  </a:lnTo>
                  <a:lnTo>
                    <a:pt x="1765554" y="133350"/>
                  </a:lnTo>
                  <a:lnTo>
                    <a:pt x="1765554" y="584962"/>
                  </a:lnTo>
                  <a:lnTo>
                    <a:pt x="1759204" y="584962"/>
                  </a:lnTo>
                  <a:lnTo>
                    <a:pt x="1765554" y="584962"/>
                  </a:lnTo>
                  <a:cubicBezTo>
                    <a:pt x="1765554" y="658622"/>
                    <a:pt x="1705229" y="718312"/>
                    <a:pt x="1630807" y="718312"/>
                  </a:cubicBezTo>
                  <a:lnTo>
                    <a:pt x="1630807" y="711962"/>
                  </a:lnTo>
                  <a:lnTo>
                    <a:pt x="1630807" y="718312"/>
                  </a:lnTo>
                  <a:lnTo>
                    <a:pt x="134747" y="718312"/>
                  </a:lnTo>
                  <a:lnTo>
                    <a:pt x="134747" y="711962"/>
                  </a:lnTo>
                  <a:lnTo>
                    <a:pt x="134747" y="718312"/>
                  </a:lnTo>
                  <a:cubicBezTo>
                    <a:pt x="60325" y="718312"/>
                    <a:pt x="0" y="658749"/>
                    <a:pt x="0" y="584962"/>
                  </a:cubicBezTo>
                  <a:lnTo>
                    <a:pt x="0" y="133350"/>
                  </a:lnTo>
                  <a:lnTo>
                    <a:pt x="6350" y="133350"/>
                  </a:lnTo>
                  <a:lnTo>
                    <a:pt x="0" y="133350"/>
                  </a:lnTo>
                  <a:moveTo>
                    <a:pt x="12700" y="133350"/>
                  </a:moveTo>
                  <a:lnTo>
                    <a:pt x="12700" y="584962"/>
                  </a:lnTo>
                  <a:lnTo>
                    <a:pt x="6350" y="584962"/>
                  </a:lnTo>
                  <a:lnTo>
                    <a:pt x="12700" y="584962"/>
                  </a:lnTo>
                  <a:cubicBezTo>
                    <a:pt x="12700" y="651510"/>
                    <a:pt x="67310" y="705612"/>
                    <a:pt x="134747" y="705612"/>
                  </a:cubicBezTo>
                  <a:lnTo>
                    <a:pt x="1630807" y="705612"/>
                  </a:lnTo>
                  <a:cubicBezTo>
                    <a:pt x="1698244" y="705612"/>
                    <a:pt x="1752854" y="651510"/>
                    <a:pt x="1752854" y="584962"/>
                  </a:cubicBezTo>
                  <a:lnTo>
                    <a:pt x="1752854" y="133350"/>
                  </a:lnTo>
                  <a:cubicBezTo>
                    <a:pt x="1752854" y="66802"/>
                    <a:pt x="1698244" y="12700"/>
                    <a:pt x="1630807" y="12700"/>
                  </a:cubicBezTo>
                  <a:lnTo>
                    <a:pt x="134747" y="12700"/>
                  </a:lnTo>
                  <a:lnTo>
                    <a:pt x="134747" y="6350"/>
                  </a:lnTo>
                  <a:lnTo>
                    <a:pt x="134747" y="12700"/>
                  </a:lnTo>
                  <a:cubicBezTo>
                    <a:pt x="67310" y="12700"/>
                    <a:pt x="12700" y="66802"/>
                    <a:pt x="12700" y="133350"/>
                  </a:cubicBezTo>
                  <a:close/>
                </a:path>
              </a:pathLst>
            </a:custGeom>
            <a:solidFill>
              <a:srgbClr val="95CCDA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71870" y="2650331"/>
            <a:ext cx="955329" cy="397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95CCDA"/>
                </a:solidFill>
                <a:latin typeface="Roboto"/>
                <a:ea typeface="Roboto"/>
                <a:cs typeface="Roboto"/>
                <a:sym typeface="Roboto"/>
              </a:rPr>
              <a:t>DATASET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3198466"/>
            <a:ext cx="8218437" cy="94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IBM HR Analytics Dataset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4812211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Source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2238" y="5500535"/>
            <a:ext cx="7805890" cy="92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IBM HR Analytics Employee Attrition Dataset — a widely used benchmark dataset for workforce analytics projects.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99397" y="4812211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Key Features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99397" y="5500535"/>
            <a:ext cx="7805890" cy="2074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29902" lvl="1" indent="-164951" algn="l">
              <a:lnSpc>
                <a:spcPts val="3312"/>
              </a:lnSpc>
              <a:buFont typeface="Arial"/>
              <a:buChar char="•"/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Age, Gender, Department</a:t>
            </a:r>
          </a:p>
          <a:p>
            <a:pPr marL="329902" lvl="1" indent="-164951" algn="l">
              <a:lnSpc>
                <a:spcPts val="3312"/>
              </a:lnSpc>
              <a:buFont typeface="Arial"/>
              <a:buChar char="•"/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Job Role &amp; Salary Slab</a:t>
            </a:r>
          </a:p>
          <a:p>
            <a:pPr marL="329902" lvl="1" indent="-164951" algn="l">
              <a:lnSpc>
                <a:spcPts val="3312"/>
              </a:lnSpc>
              <a:buFont typeface="Arial"/>
              <a:buChar char="•"/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Job Satisfaction &amp; Performance</a:t>
            </a:r>
          </a:p>
          <a:p>
            <a:pPr marL="329902" lvl="1" indent="-164951" algn="l">
              <a:lnSpc>
                <a:spcPts val="3312"/>
              </a:lnSpc>
              <a:buFont typeface="Arial"/>
              <a:buChar char="•"/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Years at Company &amp; Attrition Flag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87476" y="2003974"/>
            <a:ext cx="850259" cy="538753"/>
            <a:chOff x="0" y="0"/>
            <a:chExt cx="1133678" cy="7183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3729" cy="718312"/>
            </a:xfrm>
            <a:custGeom>
              <a:avLst/>
              <a:gdLst/>
              <a:ahLst/>
              <a:cxnLst/>
              <a:rect l="l" t="t" r="r" b="b"/>
              <a:pathLst>
                <a:path w="1133729" h="718312">
                  <a:moveTo>
                    <a:pt x="0" y="133350"/>
                  </a:moveTo>
                  <a:cubicBezTo>
                    <a:pt x="0" y="59690"/>
                    <a:pt x="60071" y="0"/>
                    <a:pt x="134239" y="0"/>
                  </a:cubicBezTo>
                  <a:lnTo>
                    <a:pt x="999490" y="0"/>
                  </a:lnTo>
                  <a:lnTo>
                    <a:pt x="999490" y="6350"/>
                  </a:lnTo>
                  <a:lnTo>
                    <a:pt x="999490" y="0"/>
                  </a:lnTo>
                  <a:cubicBezTo>
                    <a:pt x="1073531" y="0"/>
                    <a:pt x="1133729" y="59690"/>
                    <a:pt x="1133729" y="133350"/>
                  </a:cubicBezTo>
                  <a:lnTo>
                    <a:pt x="1127379" y="133350"/>
                  </a:lnTo>
                  <a:lnTo>
                    <a:pt x="1133729" y="133350"/>
                  </a:lnTo>
                  <a:lnTo>
                    <a:pt x="1133729" y="584962"/>
                  </a:lnTo>
                  <a:lnTo>
                    <a:pt x="1127379" y="584962"/>
                  </a:lnTo>
                  <a:lnTo>
                    <a:pt x="1133729" y="584962"/>
                  </a:lnTo>
                  <a:cubicBezTo>
                    <a:pt x="1133729" y="658622"/>
                    <a:pt x="1073658" y="718312"/>
                    <a:pt x="999490" y="718312"/>
                  </a:cubicBezTo>
                  <a:lnTo>
                    <a:pt x="999490" y="711962"/>
                  </a:lnTo>
                  <a:lnTo>
                    <a:pt x="999490" y="718312"/>
                  </a:lnTo>
                  <a:lnTo>
                    <a:pt x="134239" y="718312"/>
                  </a:lnTo>
                  <a:lnTo>
                    <a:pt x="134239" y="711962"/>
                  </a:lnTo>
                  <a:lnTo>
                    <a:pt x="134239" y="718312"/>
                  </a:lnTo>
                  <a:cubicBezTo>
                    <a:pt x="60071" y="718312"/>
                    <a:pt x="0" y="658622"/>
                    <a:pt x="0" y="584962"/>
                  </a:cubicBezTo>
                  <a:lnTo>
                    <a:pt x="0" y="133350"/>
                  </a:lnTo>
                  <a:lnTo>
                    <a:pt x="6350" y="133350"/>
                  </a:lnTo>
                  <a:lnTo>
                    <a:pt x="0" y="133350"/>
                  </a:lnTo>
                  <a:moveTo>
                    <a:pt x="12700" y="133350"/>
                  </a:moveTo>
                  <a:lnTo>
                    <a:pt x="12700" y="584962"/>
                  </a:lnTo>
                  <a:lnTo>
                    <a:pt x="6350" y="584962"/>
                  </a:lnTo>
                  <a:lnTo>
                    <a:pt x="12700" y="584962"/>
                  </a:lnTo>
                  <a:cubicBezTo>
                    <a:pt x="12700" y="651510"/>
                    <a:pt x="67056" y="705612"/>
                    <a:pt x="134239" y="705612"/>
                  </a:cubicBezTo>
                  <a:lnTo>
                    <a:pt x="999490" y="705612"/>
                  </a:lnTo>
                  <a:cubicBezTo>
                    <a:pt x="1066673" y="705612"/>
                    <a:pt x="1121029" y="651510"/>
                    <a:pt x="1121029" y="584962"/>
                  </a:cubicBezTo>
                  <a:lnTo>
                    <a:pt x="1121029" y="133350"/>
                  </a:lnTo>
                  <a:cubicBezTo>
                    <a:pt x="1121029" y="66802"/>
                    <a:pt x="1066673" y="12700"/>
                    <a:pt x="999490" y="12700"/>
                  </a:cubicBezTo>
                  <a:lnTo>
                    <a:pt x="134239" y="12700"/>
                  </a:lnTo>
                  <a:lnTo>
                    <a:pt x="134239" y="6350"/>
                  </a:lnTo>
                  <a:lnTo>
                    <a:pt x="134239" y="12700"/>
                  </a:lnTo>
                  <a:cubicBezTo>
                    <a:pt x="67056" y="12700"/>
                    <a:pt x="12700" y="66802"/>
                    <a:pt x="12700" y="133350"/>
                  </a:cubicBezTo>
                  <a:close/>
                </a:path>
              </a:pathLst>
            </a:custGeom>
            <a:solidFill>
              <a:srgbClr val="95CCDA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71870" y="2046084"/>
            <a:ext cx="481460" cy="397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95CCDA"/>
                </a:solidFill>
                <a:latin typeface="Roboto"/>
                <a:ea typeface="Roboto"/>
                <a:cs typeface="Roboto"/>
                <a:sym typeface="Roboto"/>
              </a:rPr>
              <a:t>KPIS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2594219"/>
            <a:ext cx="8958262" cy="94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Key Performance Indicators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4209012"/>
            <a:ext cx="5198269" cy="830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1,470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19275" y="5355879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Total Employees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44866" y="4209012"/>
            <a:ext cx="5198269" cy="830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237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371902" y="5355879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Attrition Count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97493" y="4209012"/>
            <a:ext cx="5198269" cy="830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16.1%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924530" y="5355879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Attrition Rate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768481" y="6650384"/>
            <a:ext cx="5198269" cy="830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1,233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95517" y="7797251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Active Employees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321108" y="6650384"/>
            <a:ext cx="5198269" cy="8307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12"/>
              </a:lnSpc>
            </a:pPr>
            <a:r>
              <a:rPr lang="en-US" sz="7312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$6.5K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148145" y="7797251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37"/>
              </a:lnSpc>
            </a:pPr>
            <a:r>
              <a:rPr lang="en-US" sz="2750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Avg. Monthly Salary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88527" y="642785"/>
            <a:ext cx="1131541" cy="423567"/>
            <a:chOff x="0" y="0"/>
            <a:chExt cx="1508722" cy="564756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508760" cy="564769"/>
            </a:xfrm>
            <a:custGeom>
              <a:avLst/>
              <a:gdLst/>
              <a:ahLst/>
              <a:cxnLst/>
              <a:rect l="l" t="t" r="r" b="b"/>
              <a:pathLst>
                <a:path w="1508760" h="564769">
                  <a:moveTo>
                    <a:pt x="0" y="110871"/>
                  </a:moveTo>
                  <a:cubicBezTo>
                    <a:pt x="0" y="49530"/>
                    <a:pt x="50419" y="0"/>
                    <a:pt x="112395" y="0"/>
                  </a:cubicBezTo>
                  <a:lnTo>
                    <a:pt x="1396365" y="0"/>
                  </a:lnTo>
                  <a:lnTo>
                    <a:pt x="1396365" y="6350"/>
                  </a:lnTo>
                  <a:lnTo>
                    <a:pt x="1396365" y="0"/>
                  </a:lnTo>
                  <a:cubicBezTo>
                    <a:pt x="1458341" y="0"/>
                    <a:pt x="1508760" y="49530"/>
                    <a:pt x="1508760" y="110871"/>
                  </a:cubicBezTo>
                  <a:lnTo>
                    <a:pt x="1502410" y="110871"/>
                  </a:lnTo>
                  <a:lnTo>
                    <a:pt x="1508760" y="110871"/>
                  </a:lnTo>
                  <a:lnTo>
                    <a:pt x="1508760" y="453898"/>
                  </a:lnTo>
                  <a:lnTo>
                    <a:pt x="1502410" y="453898"/>
                  </a:lnTo>
                  <a:lnTo>
                    <a:pt x="1508760" y="453898"/>
                  </a:lnTo>
                  <a:cubicBezTo>
                    <a:pt x="1508760" y="515239"/>
                    <a:pt x="1458341" y="564769"/>
                    <a:pt x="1396365" y="564769"/>
                  </a:cubicBezTo>
                  <a:lnTo>
                    <a:pt x="1396365" y="558419"/>
                  </a:lnTo>
                  <a:lnTo>
                    <a:pt x="1396365" y="564769"/>
                  </a:lnTo>
                  <a:lnTo>
                    <a:pt x="112395" y="564769"/>
                  </a:lnTo>
                  <a:lnTo>
                    <a:pt x="112395" y="558419"/>
                  </a:lnTo>
                  <a:lnTo>
                    <a:pt x="112395" y="564769"/>
                  </a:lnTo>
                  <a:cubicBezTo>
                    <a:pt x="50419" y="564769"/>
                    <a:pt x="0" y="515239"/>
                    <a:pt x="0" y="453898"/>
                  </a:cubicBezTo>
                  <a:lnTo>
                    <a:pt x="0" y="110871"/>
                  </a:lnTo>
                  <a:lnTo>
                    <a:pt x="6350" y="110871"/>
                  </a:lnTo>
                  <a:lnTo>
                    <a:pt x="0" y="110871"/>
                  </a:lnTo>
                  <a:moveTo>
                    <a:pt x="12700" y="110871"/>
                  </a:moveTo>
                  <a:lnTo>
                    <a:pt x="12700" y="453898"/>
                  </a:lnTo>
                  <a:lnTo>
                    <a:pt x="6350" y="453898"/>
                  </a:lnTo>
                  <a:lnTo>
                    <a:pt x="12700" y="453898"/>
                  </a:lnTo>
                  <a:cubicBezTo>
                    <a:pt x="12700" y="508000"/>
                    <a:pt x="57277" y="552069"/>
                    <a:pt x="112395" y="552069"/>
                  </a:cubicBezTo>
                  <a:lnTo>
                    <a:pt x="1396365" y="552069"/>
                  </a:lnTo>
                  <a:cubicBezTo>
                    <a:pt x="1451483" y="552069"/>
                    <a:pt x="1496060" y="508000"/>
                    <a:pt x="1496060" y="453898"/>
                  </a:cubicBezTo>
                  <a:lnTo>
                    <a:pt x="1496060" y="110871"/>
                  </a:lnTo>
                  <a:cubicBezTo>
                    <a:pt x="1496060" y="56769"/>
                    <a:pt x="1451483" y="12700"/>
                    <a:pt x="1396365" y="12700"/>
                  </a:cubicBezTo>
                  <a:lnTo>
                    <a:pt x="112395" y="12700"/>
                  </a:lnTo>
                  <a:lnTo>
                    <a:pt x="112395" y="6350"/>
                  </a:lnTo>
                  <a:lnTo>
                    <a:pt x="112395" y="12700"/>
                  </a:lnTo>
                  <a:cubicBezTo>
                    <a:pt x="57277" y="12700"/>
                    <a:pt x="12700" y="56769"/>
                    <a:pt x="12700" y="110871"/>
                  </a:cubicBezTo>
                  <a:close/>
                </a:path>
              </a:pathLst>
            </a:custGeom>
            <a:solidFill>
              <a:srgbClr val="95CCDA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242717" y="698449"/>
            <a:ext cx="823170" cy="283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437">
                <a:solidFill>
                  <a:srgbClr val="95CCDA"/>
                </a:solidFill>
                <a:latin typeface="Roboto"/>
                <a:ea typeface="Roboto"/>
                <a:cs typeface="Roboto"/>
                <a:sym typeface="Roboto"/>
              </a:rPr>
              <a:t>INSIGHTS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93289" y="1100290"/>
            <a:ext cx="5833767" cy="767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87"/>
              </a:lnSpc>
            </a:pPr>
            <a:r>
              <a:rPr lang="en-US" sz="4562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Key Insights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093289" y="2371573"/>
            <a:ext cx="5265391" cy="7051777"/>
            <a:chOff x="0" y="0"/>
            <a:chExt cx="7020522" cy="9402369"/>
          </a:xfrm>
        </p:grpSpPr>
        <p:sp>
          <p:nvSpPr>
            <p:cNvPr id="11" name="Freeform 11" descr="preencoded.png"/>
            <p:cNvSpPr/>
            <p:nvPr/>
          </p:nvSpPr>
          <p:spPr>
            <a:xfrm>
              <a:off x="0" y="0"/>
              <a:ext cx="7020560" cy="9402318"/>
            </a:xfrm>
            <a:custGeom>
              <a:avLst/>
              <a:gdLst/>
              <a:ahLst/>
              <a:cxnLst/>
              <a:rect l="l" t="t" r="r" b="b"/>
              <a:pathLst>
                <a:path w="7020560" h="9402318">
                  <a:moveTo>
                    <a:pt x="0" y="0"/>
                  </a:moveTo>
                  <a:lnTo>
                    <a:pt x="7020560" y="0"/>
                  </a:lnTo>
                  <a:lnTo>
                    <a:pt x="7020560" y="9402318"/>
                  </a:lnTo>
                  <a:lnTo>
                    <a:pt x="0" y="94023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41" r="-41"/>
              </a:stretch>
            </a:blipFill>
          </p:spPr>
        </p:sp>
      </p:grpSp>
      <p:grpSp>
        <p:nvGrpSpPr>
          <p:cNvPr id="12" name="Group 12"/>
          <p:cNvGrpSpPr/>
          <p:nvPr/>
        </p:nvGrpSpPr>
        <p:grpSpPr>
          <a:xfrm>
            <a:off x="1093289" y="2371573"/>
            <a:ext cx="5265391" cy="7051777"/>
            <a:chOff x="0" y="0"/>
            <a:chExt cx="7020522" cy="9402369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7020560" cy="9402318"/>
            </a:xfrm>
            <a:custGeom>
              <a:avLst/>
              <a:gdLst/>
              <a:ahLst/>
              <a:cxnLst/>
              <a:rect l="l" t="t" r="r" b="b"/>
              <a:pathLst>
                <a:path w="7020560" h="9402318">
                  <a:moveTo>
                    <a:pt x="0" y="0"/>
                  </a:moveTo>
                  <a:lnTo>
                    <a:pt x="7020560" y="0"/>
                  </a:lnTo>
                  <a:lnTo>
                    <a:pt x="7020560" y="9402318"/>
                  </a:lnTo>
                  <a:lnTo>
                    <a:pt x="0" y="94023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1" r="-41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6923037" y="4682280"/>
            <a:ext cx="3322739" cy="2430218"/>
            <a:chOff x="0" y="0"/>
            <a:chExt cx="4430319" cy="3240291"/>
          </a:xfrm>
        </p:grpSpPr>
        <p:sp>
          <p:nvSpPr>
            <p:cNvPr id="15" name="Freeform 15"/>
            <p:cNvSpPr/>
            <p:nvPr/>
          </p:nvSpPr>
          <p:spPr>
            <a:xfrm>
              <a:off x="19050" y="19050"/>
              <a:ext cx="4392295" cy="3202178"/>
            </a:xfrm>
            <a:custGeom>
              <a:avLst/>
              <a:gdLst/>
              <a:ahLst/>
              <a:cxnLst/>
              <a:rect l="l" t="t" r="r" b="b"/>
              <a:pathLst>
                <a:path w="4392295" h="3202178">
                  <a:moveTo>
                    <a:pt x="0" y="182880"/>
                  </a:moveTo>
                  <a:cubicBezTo>
                    <a:pt x="0" y="81915"/>
                    <a:pt x="82169" y="0"/>
                    <a:pt x="183515" y="0"/>
                  </a:cubicBezTo>
                  <a:lnTo>
                    <a:pt x="4208780" y="0"/>
                  </a:lnTo>
                  <a:cubicBezTo>
                    <a:pt x="4310126" y="0"/>
                    <a:pt x="4392295" y="81915"/>
                    <a:pt x="4392295" y="182880"/>
                  </a:cubicBezTo>
                  <a:lnTo>
                    <a:pt x="4392295" y="3019298"/>
                  </a:lnTo>
                  <a:cubicBezTo>
                    <a:pt x="4392295" y="3120263"/>
                    <a:pt x="4310126" y="3202178"/>
                    <a:pt x="4208780" y="3202178"/>
                  </a:cubicBezTo>
                  <a:lnTo>
                    <a:pt x="183515" y="3202178"/>
                  </a:lnTo>
                  <a:cubicBezTo>
                    <a:pt x="82169" y="3202178"/>
                    <a:pt x="0" y="3120263"/>
                    <a:pt x="0" y="3019298"/>
                  </a:cubicBezTo>
                  <a:close/>
                </a:path>
              </a:pathLst>
            </a:custGeom>
            <a:solidFill>
              <a:srgbClr val="FAF9F5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4430395" cy="3240278"/>
            </a:xfrm>
            <a:custGeom>
              <a:avLst/>
              <a:gdLst/>
              <a:ahLst/>
              <a:cxnLst/>
              <a:rect l="l" t="t" r="r" b="b"/>
              <a:pathLst>
                <a:path w="4430395" h="3240278">
                  <a:moveTo>
                    <a:pt x="0" y="201930"/>
                  </a:moveTo>
                  <a:cubicBezTo>
                    <a:pt x="0" y="90297"/>
                    <a:pt x="90678" y="0"/>
                    <a:pt x="202565" y="0"/>
                  </a:cubicBezTo>
                  <a:lnTo>
                    <a:pt x="4227830" y="0"/>
                  </a:lnTo>
                  <a:lnTo>
                    <a:pt x="4227830" y="19050"/>
                  </a:lnTo>
                  <a:lnTo>
                    <a:pt x="4227830" y="0"/>
                  </a:lnTo>
                  <a:cubicBezTo>
                    <a:pt x="4339590" y="0"/>
                    <a:pt x="4430395" y="90297"/>
                    <a:pt x="4430395" y="201930"/>
                  </a:cubicBezTo>
                  <a:lnTo>
                    <a:pt x="4411345" y="201930"/>
                  </a:lnTo>
                  <a:lnTo>
                    <a:pt x="4430395" y="201930"/>
                  </a:lnTo>
                  <a:lnTo>
                    <a:pt x="4430395" y="3038348"/>
                  </a:lnTo>
                  <a:lnTo>
                    <a:pt x="4411345" y="3038348"/>
                  </a:lnTo>
                  <a:lnTo>
                    <a:pt x="4430395" y="3038348"/>
                  </a:lnTo>
                  <a:cubicBezTo>
                    <a:pt x="4430395" y="3149981"/>
                    <a:pt x="4339717" y="3240278"/>
                    <a:pt x="4227830" y="3240278"/>
                  </a:cubicBezTo>
                  <a:lnTo>
                    <a:pt x="4227830" y="3221228"/>
                  </a:lnTo>
                  <a:lnTo>
                    <a:pt x="4227830" y="3240278"/>
                  </a:lnTo>
                  <a:lnTo>
                    <a:pt x="202565" y="3240278"/>
                  </a:lnTo>
                  <a:lnTo>
                    <a:pt x="202565" y="3221228"/>
                  </a:lnTo>
                  <a:lnTo>
                    <a:pt x="202565" y="3240278"/>
                  </a:lnTo>
                  <a:cubicBezTo>
                    <a:pt x="90805" y="3240278"/>
                    <a:pt x="0" y="3149981"/>
                    <a:pt x="0" y="3038348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038348"/>
                  </a:lnTo>
                  <a:lnTo>
                    <a:pt x="19050" y="3038348"/>
                  </a:lnTo>
                  <a:lnTo>
                    <a:pt x="38100" y="3038348"/>
                  </a:lnTo>
                  <a:cubicBezTo>
                    <a:pt x="38100" y="3128772"/>
                    <a:pt x="111633" y="3202178"/>
                    <a:pt x="202565" y="3202178"/>
                  </a:cubicBezTo>
                  <a:lnTo>
                    <a:pt x="4227830" y="3202178"/>
                  </a:lnTo>
                  <a:cubicBezTo>
                    <a:pt x="4318635" y="3202178"/>
                    <a:pt x="4392295" y="3128772"/>
                    <a:pt x="4392295" y="3038348"/>
                  </a:cubicBezTo>
                  <a:lnTo>
                    <a:pt x="4392295" y="201930"/>
                  </a:lnTo>
                  <a:cubicBezTo>
                    <a:pt x="4392295" y="111506"/>
                    <a:pt x="4318762" y="38100"/>
                    <a:pt x="4227830" y="38100"/>
                  </a:cubicBezTo>
                  <a:lnTo>
                    <a:pt x="202565" y="38100"/>
                  </a:lnTo>
                  <a:lnTo>
                    <a:pt x="202565" y="19050"/>
                  </a:lnTo>
                  <a:lnTo>
                    <a:pt x="202565" y="38100"/>
                  </a:lnTo>
                  <a:cubicBezTo>
                    <a:pt x="111633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6908749" y="4696568"/>
            <a:ext cx="114300" cy="2401643"/>
            <a:chOff x="0" y="0"/>
            <a:chExt cx="152400" cy="3202191"/>
          </a:xfrm>
        </p:grpSpPr>
        <p:sp>
          <p:nvSpPr>
            <p:cNvPr id="18" name="Freeform 18" descr="preencoded.png"/>
            <p:cNvSpPr/>
            <p:nvPr/>
          </p:nvSpPr>
          <p:spPr>
            <a:xfrm>
              <a:off x="0" y="0"/>
              <a:ext cx="152400" cy="3202178"/>
            </a:xfrm>
            <a:custGeom>
              <a:avLst/>
              <a:gdLst/>
              <a:ahLst/>
              <a:cxnLst/>
              <a:rect l="l" t="t" r="r" b="b"/>
              <a:pathLst>
                <a:path w="152400" h="3202178">
                  <a:moveTo>
                    <a:pt x="0" y="0"/>
                  </a:moveTo>
                  <a:lnTo>
                    <a:pt x="152400" y="0"/>
                  </a:lnTo>
                  <a:lnTo>
                    <a:pt x="152400" y="3202178"/>
                  </a:lnTo>
                  <a:lnTo>
                    <a:pt x="0" y="3202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" r="-33"/>
              </a:stretch>
            </a:blipFill>
          </p:spPr>
        </p:sp>
      </p:grpSp>
      <p:sp>
        <p:nvSpPr>
          <p:cNvPr id="19" name="TextBox 19"/>
          <p:cNvSpPr txBox="1"/>
          <p:nvPr/>
        </p:nvSpPr>
        <p:spPr>
          <a:xfrm>
            <a:off x="7284834" y="4929778"/>
            <a:ext cx="2684859" cy="393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R&amp;D Leads Attrition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84834" y="5476875"/>
            <a:ext cx="2684859" cy="994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812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The R&amp;D department accounts for the highest share of employee exits.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409187" y="4682280"/>
            <a:ext cx="3322739" cy="2430218"/>
            <a:chOff x="0" y="0"/>
            <a:chExt cx="4430319" cy="3240291"/>
          </a:xfrm>
        </p:grpSpPr>
        <p:sp>
          <p:nvSpPr>
            <p:cNvPr id="22" name="Freeform 22"/>
            <p:cNvSpPr/>
            <p:nvPr/>
          </p:nvSpPr>
          <p:spPr>
            <a:xfrm>
              <a:off x="19050" y="19050"/>
              <a:ext cx="4392295" cy="3202178"/>
            </a:xfrm>
            <a:custGeom>
              <a:avLst/>
              <a:gdLst/>
              <a:ahLst/>
              <a:cxnLst/>
              <a:rect l="l" t="t" r="r" b="b"/>
              <a:pathLst>
                <a:path w="4392295" h="3202178">
                  <a:moveTo>
                    <a:pt x="0" y="182880"/>
                  </a:moveTo>
                  <a:cubicBezTo>
                    <a:pt x="0" y="81915"/>
                    <a:pt x="82169" y="0"/>
                    <a:pt x="183515" y="0"/>
                  </a:cubicBezTo>
                  <a:lnTo>
                    <a:pt x="4208780" y="0"/>
                  </a:lnTo>
                  <a:cubicBezTo>
                    <a:pt x="4310126" y="0"/>
                    <a:pt x="4392295" y="81915"/>
                    <a:pt x="4392295" y="182880"/>
                  </a:cubicBezTo>
                  <a:lnTo>
                    <a:pt x="4392295" y="3019298"/>
                  </a:lnTo>
                  <a:cubicBezTo>
                    <a:pt x="4392295" y="3120263"/>
                    <a:pt x="4310126" y="3202178"/>
                    <a:pt x="4208780" y="3202178"/>
                  </a:cubicBezTo>
                  <a:lnTo>
                    <a:pt x="183515" y="3202178"/>
                  </a:lnTo>
                  <a:cubicBezTo>
                    <a:pt x="82169" y="3202178"/>
                    <a:pt x="0" y="3120263"/>
                    <a:pt x="0" y="3019298"/>
                  </a:cubicBezTo>
                  <a:close/>
                </a:path>
              </a:pathLst>
            </a:custGeom>
            <a:solidFill>
              <a:srgbClr val="FAF9F5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4430395" cy="3240278"/>
            </a:xfrm>
            <a:custGeom>
              <a:avLst/>
              <a:gdLst/>
              <a:ahLst/>
              <a:cxnLst/>
              <a:rect l="l" t="t" r="r" b="b"/>
              <a:pathLst>
                <a:path w="4430395" h="3240278">
                  <a:moveTo>
                    <a:pt x="0" y="201930"/>
                  </a:moveTo>
                  <a:cubicBezTo>
                    <a:pt x="0" y="90297"/>
                    <a:pt x="90678" y="0"/>
                    <a:pt x="202565" y="0"/>
                  </a:cubicBezTo>
                  <a:lnTo>
                    <a:pt x="4227830" y="0"/>
                  </a:lnTo>
                  <a:lnTo>
                    <a:pt x="4227830" y="19050"/>
                  </a:lnTo>
                  <a:lnTo>
                    <a:pt x="4227830" y="0"/>
                  </a:lnTo>
                  <a:cubicBezTo>
                    <a:pt x="4339590" y="0"/>
                    <a:pt x="4430395" y="90297"/>
                    <a:pt x="4430395" y="201930"/>
                  </a:cubicBezTo>
                  <a:lnTo>
                    <a:pt x="4411345" y="201930"/>
                  </a:lnTo>
                  <a:lnTo>
                    <a:pt x="4430395" y="201930"/>
                  </a:lnTo>
                  <a:lnTo>
                    <a:pt x="4430395" y="3038348"/>
                  </a:lnTo>
                  <a:lnTo>
                    <a:pt x="4411345" y="3038348"/>
                  </a:lnTo>
                  <a:lnTo>
                    <a:pt x="4430395" y="3038348"/>
                  </a:lnTo>
                  <a:cubicBezTo>
                    <a:pt x="4430395" y="3149981"/>
                    <a:pt x="4339717" y="3240278"/>
                    <a:pt x="4227830" y="3240278"/>
                  </a:cubicBezTo>
                  <a:lnTo>
                    <a:pt x="4227830" y="3221228"/>
                  </a:lnTo>
                  <a:lnTo>
                    <a:pt x="4227830" y="3240278"/>
                  </a:lnTo>
                  <a:lnTo>
                    <a:pt x="202565" y="3240278"/>
                  </a:lnTo>
                  <a:lnTo>
                    <a:pt x="202565" y="3221228"/>
                  </a:lnTo>
                  <a:lnTo>
                    <a:pt x="202565" y="3240278"/>
                  </a:lnTo>
                  <a:cubicBezTo>
                    <a:pt x="90805" y="3240278"/>
                    <a:pt x="0" y="3149981"/>
                    <a:pt x="0" y="3038348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038348"/>
                  </a:lnTo>
                  <a:lnTo>
                    <a:pt x="19050" y="3038348"/>
                  </a:lnTo>
                  <a:lnTo>
                    <a:pt x="38100" y="3038348"/>
                  </a:lnTo>
                  <a:cubicBezTo>
                    <a:pt x="38100" y="3128772"/>
                    <a:pt x="111633" y="3202178"/>
                    <a:pt x="202565" y="3202178"/>
                  </a:cubicBezTo>
                  <a:lnTo>
                    <a:pt x="4227830" y="3202178"/>
                  </a:lnTo>
                  <a:cubicBezTo>
                    <a:pt x="4318635" y="3202178"/>
                    <a:pt x="4392295" y="3128772"/>
                    <a:pt x="4392295" y="3038348"/>
                  </a:cubicBezTo>
                  <a:lnTo>
                    <a:pt x="4392295" y="201930"/>
                  </a:lnTo>
                  <a:cubicBezTo>
                    <a:pt x="4392295" y="111506"/>
                    <a:pt x="4318762" y="38100"/>
                    <a:pt x="4227830" y="38100"/>
                  </a:cubicBezTo>
                  <a:lnTo>
                    <a:pt x="202565" y="38100"/>
                  </a:lnTo>
                  <a:lnTo>
                    <a:pt x="202565" y="19050"/>
                  </a:lnTo>
                  <a:lnTo>
                    <a:pt x="202565" y="38100"/>
                  </a:lnTo>
                  <a:cubicBezTo>
                    <a:pt x="111633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0394899" y="4696568"/>
            <a:ext cx="114300" cy="2401643"/>
            <a:chOff x="0" y="0"/>
            <a:chExt cx="152400" cy="3202191"/>
          </a:xfrm>
        </p:grpSpPr>
        <p:sp>
          <p:nvSpPr>
            <p:cNvPr id="25" name="Freeform 25" descr="preencoded.png"/>
            <p:cNvSpPr/>
            <p:nvPr/>
          </p:nvSpPr>
          <p:spPr>
            <a:xfrm>
              <a:off x="0" y="0"/>
              <a:ext cx="152400" cy="3202178"/>
            </a:xfrm>
            <a:custGeom>
              <a:avLst/>
              <a:gdLst/>
              <a:ahLst/>
              <a:cxnLst/>
              <a:rect l="l" t="t" r="r" b="b"/>
              <a:pathLst>
                <a:path w="152400" h="3202178">
                  <a:moveTo>
                    <a:pt x="0" y="0"/>
                  </a:moveTo>
                  <a:lnTo>
                    <a:pt x="152400" y="0"/>
                  </a:lnTo>
                  <a:lnTo>
                    <a:pt x="152400" y="3202178"/>
                  </a:lnTo>
                  <a:lnTo>
                    <a:pt x="0" y="3202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" r="-33"/>
              </a:stretch>
            </a:blipFill>
          </p:spPr>
        </p:sp>
      </p:grpSp>
      <p:sp>
        <p:nvSpPr>
          <p:cNvPr id="26" name="TextBox 26"/>
          <p:cNvSpPr txBox="1"/>
          <p:nvPr/>
        </p:nvSpPr>
        <p:spPr>
          <a:xfrm>
            <a:off x="10770984" y="4929778"/>
            <a:ext cx="2684859" cy="3932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Age 20–40 at Risk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770984" y="5476875"/>
            <a:ext cx="2684859" cy="1313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812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Younger and mid-career employees show the greatest tendency to leave.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3895337" y="4682280"/>
            <a:ext cx="3322882" cy="2430218"/>
            <a:chOff x="0" y="0"/>
            <a:chExt cx="4430509" cy="3240291"/>
          </a:xfrm>
        </p:grpSpPr>
        <p:sp>
          <p:nvSpPr>
            <p:cNvPr id="29" name="Freeform 29"/>
            <p:cNvSpPr/>
            <p:nvPr/>
          </p:nvSpPr>
          <p:spPr>
            <a:xfrm>
              <a:off x="19050" y="19050"/>
              <a:ext cx="4392422" cy="3202178"/>
            </a:xfrm>
            <a:custGeom>
              <a:avLst/>
              <a:gdLst/>
              <a:ahLst/>
              <a:cxnLst/>
              <a:rect l="l" t="t" r="r" b="b"/>
              <a:pathLst>
                <a:path w="4392422" h="3202178">
                  <a:moveTo>
                    <a:pt x="0" y="182880"/>
                  </a:moveTo>
                  <a:cubicBezTo>
                    <a:pt x="0" y="81915"/>
                    <a:pt x="82169" y="0"/>
                    <a:pt x="183515" y="0"/>
                  </a:cubicBezTo>
                  <a:lnTo>
                    <a:pt x="4208907" y="0"/>
                  </a:lnTo>
                  <a:cubicBezTo>
                    <a:pt x="4310253" y="0"/>
                    <a:pt x="4392422" y="81915"/>
                    <a:pt x="4392422" y="182880"/>
                  </a:cubicBezTo>
                  <a:lnTo>
                    <a:pt x="4392422" y="3019298"/>
                  </a:lnTo>
                  <a:cubicBezTo>
                    <a:pt x="4392422" y="3120263"/>
                    <a:pt x="4310253" y="3202178"/>
                    <a:pt x="4208907" y="3202178"/>
                  </a:cubicBezTo>
                  <a:lnTo>
                    <a:pt x="183515" y="3202178"/>
                  </a:lnTo>
                  <a:cubicBezTo>
                    <a:pt x="82169" y="3202178"/>
                    <a:pt x="0" y="3120263"/>
                    <a:pt x="0" y="3019298"/>
                  </a:cubicBezTo>
                  <a:close/>
                </a:path>
              </a:pathLst>
            </a:custGeom>
            <a:solidFill>
              <a:srgbClr val="FAF9F5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0"/>
              <a:ext cx="4430522" cy="3240278"/>
            </a:xfrm>
            <a:custGeom>
              <a:avLst/>
              <a:gdLst/>
              <a:ahLst/>
              <a:cxnLst/>
              <a:rect l="l" t="t" r="r" b="b"/>
              <a:pathLst>
                <a:path w="4430522" h="3240278">
                  <a:moveTo>
                    <a:pt x="0" y="201930"/>
                  </a:moveTo>
                  <a:cubicBezTo>
                    <a:pt x="0" y="90297"/>
                    <a:pt x="90678" y="0"/>
                    <a:pt x="202565" y="0"/>
                  </a:cubicBezTo>
                  <a:lnTo>
                    <a:pt x="4227957" y="0"/>
                  </a:lnTo>
                  <a:lnTo>
                    <a:pt x="4227957" y="19050"/>
                  </a:lnTo>
                  <a:lnTo>
                    <a:pt x="4227957" y="0"/>
                  </a:lnTo>
                  <a:cubicBezTo>
                    <a:pt x="4339717" y="0"/>
                    <a:pt x="4430522" y="90297"/>
                    <a:pt x="4430522" y="201930"/>
                  </a:cubicBezTo>
                  <a:lnTo>
                    <a:pt x="4411472" y="201930"/>
                  </a:lnTo>
                  <a:lnTo>
                    <a:pt x="4430522" y="201930"/>
                  </a:lnTo>
                  <a:lnTo>
                    <a:pt x="4430522" y="3038348"/>
                  </a:lnTo>
                  <a:lnTo>
                    <a:pt x="4411472" y="3038348"/>
                  </a:lnTo>
                  <a:lnTo>
                    <a:pt x="4430522" y="3038348"/>
                  </a:lnTo>
                  <a:cubicBezTo>
                    <a:pt x="4430522" y="3149981"/>
                    <a:pt x="4339844" y="3240278"/>
                    <a:pt x="4227957" y="3240278"/>
                  </a:cubicBezTo>
                  <a:lnTo>
                    <a:pt x="4227957" y="3221228"/>
                  </a:lnTo>
                  <a:lnTo>
                    <a:pt x="4227957" y="3240278"/>
                  </a:lnTo>
                  <a:lnTo>
                    <a:pt x="202565" y="3240278"/>
                  </a:lnTo>
                  <a:lnTo>
                    <a:pt x="202565" y="3221228"/>
                  </a:lnTo>
                  <a:lnTo>
                    <a:pt x="202565" y="3240278"/>
                  </a:lnTo>
                  <a:cubicBezTo>
                    <a:pt x="90805" y="3240278"/>
                    <a:pt x="0" y="3149981"/>
                    <a:pt x="0" y="3038348"/>
                  </a:cubicBezTo>
                  <a:lnTo>
                    <a:pt x="0" y="201930"/>
                  </a:lnTo>
                  <a:lnTo>
                    <a:pt x="19050" y="201930"/>
                  </a:lnTo>
                  <a:lnTo>
                    <a:pt x="0" y="201930"/>
                  </a:lnTo>
                  <a:moveTo>
                    <a:pt x="38100" y="201930"/>
                  </a:moveTo>
                  <a:lnTo>
                    <a:pt x="38100" y="3038348"/>
                  </a:lnTo>
                  <a:lnTo>
                    <a:pt x="19050" y="3038348"/>
                  </a:lnTo>
                  <a:lnTo>
                    <a:pt x="38100" y="3038348"/>
                  </a:lnTo>
                  <a:cubicBezTo>
                    <a:pt x="38100" y="3128772"/>
                    <a:pt x="111633" y="3202178"/>
                    <a:pt x="202565" y="3202178"/>
                  </a:cubicBezTo>
                  <a:lnTo>
                    <a:pt x="4227957" y="3202178"/>
                  </a:lnTo>
                  <a:cubicBezTo>
                    <a:pt x="4318762" y="3202178"/>
                    <a:pt x="4392422" y="3128772"/>
                    <a:pt x="4392422" y="3038348"/>
                  </a:cubicBezTo>
                  <a:lnTo>
                    <a:pt x="4392422" y="201930"/>
                  </a:lnTo>
                  <a:cubicBezTo>
                    <a:pt x="4392422" y="111506"/>
                    <a:pt x="4318889" y="38100"/>
                    <a:pt x="4227957" y="38100"/>
                  </a:cubicBezTo>
                  <a:lnTo>
                    <a:pt x="202565" y="38100"/>
                  </a:lnTo>
                  <a:lnTo>
                    <a:pt x="202565" y="19050"/>
                  </a:lnTo>
                  <a:lnTo>
                    <a:pt x="202565" y="38100"/>
                  </a:lnTo>
                  <a:cubicBezTo>
                    <a:pt x="111633" y="38100"/>
                    <a:pt x="38100" y="111506"/>
                    <a:pt x="38100" y="201930"/>
                  </a:cubicBezTo>
                  <a:close/>
                </a:path>
              </a:pathLst>
            </a:custGeom>
            <a:solidFill>
              <a:srgbClr val="BFD3D8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3881049" y="4696568"/>
            <a:ext cx="114300" cy="2401643"/>
            <a:chOff x="0" y="0"/>
            <a:chExt cx="152400" cy="3202191"/>
          </a:xfrm>
        </p:grpSpPr>
        <p:sp>
          <p:nvSpPr>
            <p:cNvPr id="32" name="Freeform 32" descr="preencoded.png"/>
            <p:cNvSpPr/>
            <p:nvPr/>
          </p:nvSpPr>
          <p:spPr>
            <a:xfrm>
              <a:off x="0" y="0"/>
              <a:ext cx="152400" cy="3202178"/>
            </a:xfrm>
            <a:custGeom>
              <a:avLst/>
              <a:gdLst/>
              <a:ahLst/>
              <a:cxnLst/>
              <a:rect l="l" t="t" r="r" b="b"/>
              <a:pathLst>
                <a:path w="152400" h="3202178">
                  <a:moveTo>
                    <a:pt x="0" y="0"/>
                  </a:moveTo>
                  <a:lnTo>
                    <a:pt x="152400" y="0"/>
                  </a:lnTo>
                  <a:lnTo>
                    <a:pt x="152400" y="3202178"/>
                  </a:lnTo>
                  <a:lnTo>
                    <a:pt x="0" y="32021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5" r="-33"/>
              </a:stretch>
            </a:blipFill>
          </p:spPr>
        </p:sp>
      </p:grpSp>
      <p:sp>
        <p:nvSpPr>
          <p:cNvPr id="33" name="TextBox 33"/>
          <p:cNvSpPr txBox="1"/>
          <p:nvPr/>
        </p:nvSpPr>
        <p:spPr>
          <a:xfrm>
            <a:off x="14257134" y="4929778"/>
            <a:ext cx="2685012" cy="7578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12"/>
              </a:lnSpc>
            </a:pPr>
            <a:r>
              <a:rPr lang="en-US" sz="2249">
                <a:solidFill>
                  <a:srgbClr val="384653"/>
                </a:solidFill>
                <a:latin typeface="Arimo"/>
                <a:ea typeface="Arimo"/>
                <a:cs typeface="Arimo"/>
                <a:sym typeface="Arimo"/>
              </a:rPr>
              <a:t>Salary Drives Turnover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4257134" y="5841502"/>
            <a:ext cx="2685012" cy="994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99"/>
              </a:lnSpc>
            </a:pPr>
            <a:r>
              <a:rPr lang="en-US" sz="1812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Employees in lower salary slabs have significantly higher attrition rates.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987476" y="1185120"/>
            <a:ext cx="2127647" cy="538753"/>
            <a:chOff x="0" y="0"/>
            <a:chExt cx="2836862" cy="71833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836926" cy="718312"/>
            </a:xfrm>
            <a:custGeom>
              <a:avLst/>
              <a:gdLst/>
              <a:ahLst/>
              <a:cxnLst/>
              <a:rect l="l" t="t" r="r" b="b"/>
              <a:pathLst>
                <a:path w="2836926" h="718312">
                  <a:moveTo>
                    <a:pt x="0" y="133350"/>
                  </a:moveTo>
                  <a:cubicBezTo>
                    <a:pt x="0" y="59690"/>
                    <a:pt x="60579" y="0"/>
                    <a:pt x="135128" y="0"/>
                  </a:cubicBezTo>
                  <a:lnTo>
                    <a:pt x="2701798" y="0"/>
                  </a:lnTo>
                  <a:lnTo>
                    <a:pt x="2701798" y="6350"/>
                  </a:lnTo>
                  <a:lnTo>
                    <a:pt x="2701798" y="0"/>
                  </a:lnTo>
                  <a:cubicBezTo>
                    <a:pt x="2776347" y="0"/>
                    <a:pt x="2836926" y="59690"/>
                    <a:pt x="2836926" y="133350"/>
                  </a:cubicBezTo>
                  <a:lnTo>
                    <a:pt x="2830576" y="133350"/>
                  </a:lnTo>
                  <a:lnTo>
                    <a:pt x="2836926" y="133350"/>
                  </a:lnTo>
                  <a:lnTo>
                    <a:pt x="2836926" y="584962"/>
                  </a:lnTo>
                  <a:lnTo>
                    <a:pt x="2830576" y="584962"/>
                  </a:lnTo>
                  <a:lnTo>
                    <a:pt x="2836926" y="584962"/>
                  </a:lnTo>
                  <a:cubicBezTo>
                    <a:pt x="2836926" y="658749"/>
                    <a:pt x="2776347" y="718312"/>
                    <a:pt x="2701798" y="718312"/>
                  </a:cubicBezTo>
                  <a:lnTo>
                    <a:pt x="2701798" y="711962"/>
                  </a:lnTo>
                  <a:lnTo>
                    <a:pt x="2701798" y="718312"/>
                  </a:lnTo>
                  <a:lnTo>
                    <a:pt x="135128" y="718312"/>
                  </a:lnTo>
                  <a:lnTo>
                    <a:pt x="135128" y="711962"/>
                  </a:lnTo>
                  <a:lnTo>
                    <a:pt x="135128" y="718312"/>
                  </a:lnTo>
                  <a:cubicBezTo>
                    <a:pt x="60579" y="718312"/>
                    <a:pt x="0" y="658749"/>
                    <a:pt x="0" y="584962"/>
                  </a:cubicBezTo>
                  <a:lnTo>
                    <a:pt x="0" y="133350"/>
                  </a:lnTo>
                  <a:lnTo>
                    <a:pt x="6350" y="133350"/>
                  </a:lnTo>
                  <a:lnTo>
                    <a:pt x="0" y="133350"/>
                  </a:lnTo>
                  <a:moveTo>
                    <a:pt x="12700" y="133350"/>
                  </a:moveTo>
                  <a:lnTo>
                    <a:pt x="12700" y="584962"/>
                  </a:lnTo>
                  <a:lnTo>
                    <a:pt x="6350" y="584962"/>
                  </a:lnTo>
                  <a:lnTo>
                    <a:pt x="12700" y="584962"/>
                  </a:lnTo>
                  <a:cubicBezTo>
                    <a:pt x="12700" y="651510"/>
                    <a:pt x="67437" y="705612"/>
                    <a:pt x="135128" y="705612"/>
                  </a:cubicBezTo>
                  <a:lnTo>
                    <a:pt x="2701798" y="705612"/>
                  </a:lnTo>
                  <a:cubicBezTo>
                    <a:pt x="2769489" y="705612"/>
                    <a:pt x="2824226" y="651510"/>
                    <a:pt x="2824226" y="584962"/>
                  </a:cubicBezTo>
                  <a:lnTo>
                    <a:pt x="2824226" y="133350"/>
                  </a:lnTo>
                  <a:cubicBezTo>
                    <a:pt x="2824226" y="66802"/>
                    <a:pt x="2769489" y="12700"/>
                    <a:pt x="2701798" y="12700"/>
                  </a:cubicBezTo>
                  <a:lnTo>
                    <a:pt x="135128" y="12700"/>
                  </a:lnTo>
                  <a:lnTo>
                    <a:pt x="135128" y="6350"/>
                  </a:lnTo>
                  <a:lnTo>
                    <a:pt x="135128" y="12700"/>
                  </a:lnTo>
                  <a:cubicBezTo>
                    <a:pt x="67437" y="12700"/>
                    <a:pt x="12700" y="66802"/>
                    <a:pt x="12700" y="133350"/>
                  </a:cubicBezTo>
                  <a:close/>
                </a:path>
              </a:pathLst>
            </a:custGeom>
            <a:solidFill>
              <a:srgbClr val="95CCDA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171870" y="1227239"/>
            <a:ext cx="1758848" cy="397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750">
                <a:solidFill>
                  <a:srgbClr val="95CCDA"/>
                </a:solidFill>
                <a:latin typeface="Roboto"/>
                <a:ea typeface="Roboto"/>
                <a:cs typeface="Roboto"/>
                <a:sym typeface="Roboto"/>
              </a:rPr>
              <a:t>IMPACT &amp; TOOLS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238" y="1775374"/>
            <a:ext cx="9644958" cy="94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Business Impact &amp; Tools Used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92238" y="3389109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Business Impact</a:t>
            </a:r>
          </a:p>
        </p:txBody>
      </p:sp>
      <p:sp>
        <p:nvSpPr>
          <p:cNvPr id="11" name="Freeform 11" descr="preencoded.png"/>
          <p:cNvSpPr/>
          <p:nvPr/>
        </p:nvSpPr>
        <p:spPr>
          <a:xfrm>
            <a:off x="1098499" y="4188914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6" y="0"/>
                </a:lnTo>
                <a:lnTo>
                  <a:pt x="425206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888" r="-8888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913630" y="4112866"/>
            <a:ext cx="6884489" cy="50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Helps HR teams </a:t>
            </a:r>
            <a:r>
              <a:rPr lang="en-US" sz="2187" b="1">
                <a:solidFill>
                  <a:srgbClr val="384653"/>
                </a:solidFill>
                <a:latin typeface="Roboto Bold"/>
                <a:ea typeface="Roboto Bold"/>
                <a:cs typeface="Roboto Bold"/>
                <a:sym typeface="Roboto Bold"/>
              </a:rPr>
              <a:t>reduce attrition</a:t>
            </a: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 proactively</a:t>
            </a:r>
          </a:p>
        </p:txBody>
      </p:sp>
      <p:sp>
        <p:nvSpPr>
          <p:cNvPr id="13" name="Freeform 13" descr="preencoded.png"/>
          <p:cNvSpPr/>
          <p:nvPr/>
        </p:nvSpPr>
        <p:spPr>
          <a:xfrm>
            <a:off x="1098499" y="5606358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6" y="0"/>
                </a:lnTo>
                <a:lnTo>
                  <a:pt x="425206" y="425205"/>
                </a:lnTo>
                <a:lnTo>
                  <a:pt x="0" y="42520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888" r="-8888"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913630" y="5530301"/>
            <a:ext cx="6884489" cy="50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Improves </a:t>
            </a:r>
            <a:r>
              <a:rPr lang="en-US" sz="2187" b="1">
                <a:solidFill>
                  <a:srgbClr val="384653"/>
                </a:solidFill>
                <a:latin typeface="Roboto Bold"/>
                <a:ea typeface="Roboto Bold"/>
                <a:cs typeface="Roboto Bold"/>
                <a:sym typeface="Roboto Bold"/>
              </a:rPr>
              <a:t>workforce planning</a:t>
            </a: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 and resource allocation</a:t>
            </a:r>
          </a:p>
        </p:txBody>
      </p:sp>
      <p:sp>
        <p:nvSpPr>
          <p:cNvPr id="15" name="Freeform 15" descr="preencoded.png"/>
          <p:cNvSpPr/>
          <p:nvPr/>
        </p:nvSpPr>
        <p:spPr>
          <a:xfrm>
            <a:off x="1098499" y="7023792"/>
            <a:ext cx="425206" cy="425206"/>
          </a:xfrm>
          <a:custGeom>
            <a:avLst/>
            <a:gdLst/>
            <a:ahLst/>
            <a:cxnLst/>
            <a:rect l="l" t="t" r="r" b="b"/>
            <a:pathLst>
              <a:path w="425206" h="425206">
                <a:moveTo>
                  <a:pt x="0" y="0"/>
                </a:moveTo>
                <a:lnTo>
                  <a:pt x="425206" y="0"/>
                </a:lnTo>
                <a:lnTo>
                  <a:pt x="425206" y="425206"/>
                </a:lnTo>
                <a:lnTo>
                  <a:pt x="0" y="4252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8888" r="-8888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913630" y="6947745"/>
            <a:ext cx="6884489" cy="50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Enables </a:t>
            </a:r>
            <a:r>
              <a:rPr lang="en-US" sz="2187" b="1">
                <a:solidFill>
                  <a:srgbClr val="384653"/>
                </a:solidFill>
                <a:latin typeface="Roboto Bold"/>
                <a:ea typeface="Roboto Bold"/>
                <a:cs typeface="Roboto Bold"/>
                <a:sym typeface="Roboto Bold"/>
              </a:rPr>
              <a:t>data-driven decision-making</a:t>
            </a: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 at every level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295209" y="3143698"/>
            <a:ext cx="8214274" cy="5953277"/>
            <a:chOff x="0" y="0"/>
            <a:chExt cx="10952366" cy="793770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952353" cy="7937627"/>
            </a:xfrm>
            <a:custGeom>
              <a:avLst/>
              <a:gdLst/>
              <a:ahLst/>
              <a:cxnLst/>
              <a:rect l="l" t="t" r="r" b="b"/>
              <a:pathLst>
                <a:path w="10952353" h="7937627">
                  <a:moveTo>
                    <a:pt x="0" y="272161"/>
                  </a:moveTo>
                  <a:cubicBezTo>
                    <a:pt x="0" y="121920"/>
                    <a:pt x="121920" y="0"/>
                    <a:pt x="272161" y="0"/>
                  </a:cubicBezTo>
                  <a:lnTo>
                    <a:pt x="10680192" y="0"/>
                  </a:lnTo>
                  <a:cubicBezTo>
                    <a:pt x="10830561" y="0"/>
                    <a:pt x="10952353" y="121920"/>
                    <a:pt x="10952353" y="272161"/>
                  </a:cubicBezTo>
                  <a:lnTo>
                    <a:pt x="10952353" y="7665466"/>
                  </a:lnTo>
                  <a:cubicBezTo>
                    <a:pt x="10952353" y="7815835"/>
                    <a:pt x="10830433" y="7937627"/>
                    <a:pt x="10680192" y="7937627"/>
                  </a:cubicBezTo>
                  <a:lnTo>
                    <a:pt x="272161" y="7937627"/>
                  </a:lnTo>
                  <a:cubicBezTo>
                    <a:pt x="121920" y="7937754"/>
                    <a:pt x="0" y="7815834"/>
                    <a:pt x="0" y="7665466"/>
                  </a:cubicBezTo>
                  <a:close/>
                </a:path>
              </a:pathLst>
            </a:custGeom>
            <a:solidFill>
              <a:srgbClr val="95CCDA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9578731" y="3389109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Tools &amp; Technologies</a:t>
            </a:r>
          </a:p>
        </p:txBody>
      </p:sp>
      <p:sp>
        <p:nvSpPr>
          <p:cNvPr id="20" name="Freeform 20" descr="preencoded.png"/>
          <p:cNvSpPr/>
          <p:nvPr/>
        </p:nvSpPr>
        <p:spPr>
          <a:xfrm>
            <a:off x="9578731" y="4189066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8"/>
                </a:lnTo>
                <a:lnTo>
                  <a:pt x="0" y="70871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666" r="-666"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0641806" y="4150966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Power BI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641806" y="4839291"/>
            <a:ext cx="6584156" cy="50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Interactive dashboards</a:t>
            </a:r>
          </a:p>
        </p:txBody>
      </p:sp>
      <p:sp>
        <p:nvSpPr>
          <p:cNvPr id="23" name="Freeform 23" descr="preencoded.png"/>
          <p:cNvSpPr/>
          <p:nvPr/>
        </p:nvSpPr>
        <p:spPr>
          <a:xfrm>
            <a:off x="9578731" y="5907729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-15333" r="-15333"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10641806" y="5869629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DAX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641806" y="6557962"/>
            <a:ext cx="6584156" cy="50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Custom KPI calculations</a:t>
            </a:r>
          </a:p>
        </p:txBody>
      </p:sp>
      <p:sp>
        <p:nvSpPr>
          <p:cNvPr id="26" name="Freeform 26" descr="preencoded.png"/>
          <p:cNvSpPr/>
          <p:nvPr/>
        </p:nvSpPr>
        <p:spPr>
          <a:xfrm>
            <a:off x="9578731" y="7626401"/>
            <a:ext cx="708717" cy="708717"/>
          </a:xfrm>
          <a:custGeom>
            <a:avLst/>
            <a:gdLst/>
            <a:ahLst/>
            <a:cxnLst/>
            <a:rect l="l" t="t" r="r" b="b"/>
            <a:pathLst>
              <a:path w="708717" h="708717">
                <a:moveTo>
                  <a:pt x="0" y="0"/>
                </a:moveTo>
                <a:lnTo>
                  <a:pt x="708717" y="0"/>
                </a:lnTo>
                <a:lnTo>
                  <a:pt x="708717" y="708717"/>
                </a:lnTo>
                <a:lnTo>
                  <a:pt x="0" y="70871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-19333" r="-19334"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0641806" y="7588301"/>
            <a:ext cx="3544043" cy="481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Excel / CSV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641806" y="8276634"/>
            <a:ext cx="6584156" cy="50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Data preparation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C7E0E7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AF9F5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92238" y="2113655"/>
            <a:ext cx="7088238" cy="9431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Conclusion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17434" y="3866559"/>
            <a:ext cx="15878327" cy="9266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The HR Analytics Dashboard delivers actionable insights that empower organizations to improve employee retention, optimize workforce planning, and make smarter, data-driven HR decisions.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992238" y="3623815"/>
            <a:ext cx="38100" cy="1488281"/>
            <a:chOff x="0" y="0"/>
            <a:chExt cx="50800" cy="19843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0800" cy="1984375"/>
            </a:xfrm>
            <a:custGeom>
              <a:avLst/>
              <a:gdLst/>
              <a:ahLst/>
              <a:cxnLst/>
              <a:rect l="l" t="t" r="r" b="b"/>
              <a:pathLst>
                <a:path w="50800" h="1984375">
                  <a:moveTo>
                    <a:pt x="0" y="0"/>
                  </a:moveTo>
                  <a:lnTo>
                    <a:pt x="50800" y="0"/>
                  </a:lnTo>
                  <a:lnTo>
                    <a:pt x="50800" y="1984375"/>
                  </a:lnTo>
                  <a:lnTo>
                    <a:pt x="0" y="1984375"/>
                  </a:lnTo>
                  <a:close/>
                </a:path>
              </a:pathLst>
            </a:custGeom>
            <a:solidFill>
              <a:srgbClr val="95CCDA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92238" y="5572763"/>
            <a:ext cx="16303523" cy="44948"/>
            <a:chOff x="0" y="0"/>
            <a:chExt cx="21738031" cy="599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738082" cy="59944"/>
            </a:xfrm>
            <a:custGeom>
              <a:avLst/>
              <a:gdLst/>
              <a:ahLst/>
              <a:cxnLst/>
              <a:rect l="l" t="t" r="r" b="b"/>
              <a:pathLst>
                <a:path w="21738082" h="59944">
                  <a:moveTo>
                    <a:pt x="0" y="0"/>
                  </a:moveTo>
                  <a:lnTo>
                    <a:pt x="21738082" y="0"/>
                  </a:lnTo>
                  <a:lnTo>
                    <a:pt x="21738082" y="59944"/>
                  </a:lnTo>
                  <a:lnTo>
                    <a:pt x="0" y="59944"/>
                  </a:lnTo>
                  <a:close/>
                </a:path>
              </a:pathLst>
            </a:custGeom>
            <a:solidFill>
              <a:srgbClr val="384653">
                <a:alpha val="24706"/>
              </a:srgbClr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992238" y="5966670"/>
            <a:ext cx="9781880" cy="1298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25"/>
              </a:lnSpc>
            </a:pPr>
            <a:r>
              <a:rPr lang="en-US" sz="7687">
                <a:solidFill>
                  <a:srgbClr val="2E3C4E"/>
                </a:solidFill>
                <a:latin typeface="Arimo"/>
                <a:ea typeface="Arimo"/>
                <a:cs typeface="Arimo"/>
                <a:sym typeface="Arimo"/>
              </a:rPr>
              <a:t>Thank You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92238" y="7614647"/>
            <a:ext cx="16303523" cy="501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187">
                <a:solidFill>
                  <a:srgbClr val="384653"/>
                </a:solidFill>
                <a:latin typeface="Roboto"/>
                <a:ea typeface="Roboto"/>
                <a:cs typeface="Roboto"/>
                <a:sym typeface="Roboto"/>
              </a:rPr>
              <a:t>Open for questions — </a:t>
            </a:r>
            <a:r>
              <a:rPr lang="en-US" sz="2187" b="1">
                <a:solidFill>
                  <a:srgbClr val="384653"/>
                </a:solidFill>
                <a:latin typeface="Roboto Bold"/>
                <a:ea typeface="Roboto Bold"/>
                <a:cs typeface="Roboto Bold"/>
                <a:sym typeface="Roboto Bold"/>
              </a:rPr>
              <a:t>Krishna Bhise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369</Words>
  <Application>Microsoft Office PowerPoint</Application>
  <PresentationFormat>Custom</PresentationFormat>
  <Paragraphs>100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Arimo</vt:lpstr>
      <vt:lpstr>Roboto Bold</vt:lpstr>
      <vt:lpstr>Roboto Italics</vt:lpstr>
      <vt:lpstr>Arial</vt:lpstr>
      <vt:lpstr>Roboto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HR-Analytics-Dashboard.pptx</dc:title>
  <cp:lastModifiedBy>Krishna Bhise</cp:lastModifiedBy>
  <cp:revision>1</cp:revision>
  <dcterms:created xsi:type="dcterms:W3CDTF">2006-08-16T00:00:00Z</dcterms:created>
  <dcterms:modified xsi:type="dcterms:W3CDTF">2026-04-03T09:06:03Z</dcterms:modified>
  <dc:identifier>DAHFydC-Qzg</dc:identifier>
</cp:coreProperties>
</file>